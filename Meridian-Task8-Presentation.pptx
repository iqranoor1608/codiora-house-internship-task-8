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Iqra Noor, and this is Meridian — the Travel and Tourism Experience Platform I built during the CODIORA House remote internship. This is the Week 8 final project, which brings together everything from the last eight weeks into one finished product. Over the next few minutes I'll walk through what it does, the problem it solves, the main features, the tools I used, the challenges I ran into, what I learned, and where I'd take it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exactly is Meridian? It's a travel discovery platform — one single HTML file with all the CSS and JavaScript built in, no build tools, no installs. It covers the full journey: browsing destinations, planning a trip, booking a hotel or restaurant, reading and writing reviews, and even getting smart recommendations. I built every part of it myself — the page structure, the whole visual design system, and all the interactive behavior — and it now supports both light and dark themes.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 was solving is pretty common with travel sites: they make you start from scratch every time you visit. There's no memory of what you liked, you end up re-entering the same search filters over and over, and any recommendations you get feel generic instead of personal. Meridian's answer is to remember what a traveler cares about locally, right in the browser, and use that history to suggest what's actually worth looking at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walk through the main features, starting with discovery and planning. The home page has a hero banner, quick search, a featured-destination carousel, trail filtering, and sorting by rating or price. Every destination has a full detail page with a photo gallery, description, highlights, price, rating, and now a suggested trip duration. There's a trip planner for building a multi-day itinerary, and a smart travel assistant that recommends destinations based on budget, duration, and preferred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half of the feature set is about trust, personalization, and polish. There's a full reviews and ratings system with a star-rating filter and a write-a-review form. A user dashboard shows favorites, recently viewed places, and personalized suggestions once someone logs in. And in this final version, I added a light and dark theme toggle that's remembered automatically, plus a full pass on responsiveness and accessibility — mobile-to-desktop breakpoints, a skip-to-content link, visible focus states, and live regions for screen readers.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actually shipped? A complete, responsive Travel and Tourism Experience Platform that reads as one finished product, not a pile of separate weekly tasks. It covers twelve destinations with full detail pages, combines all eight weeks of features without rewriting any of them, passed a final quality check with zero duplicate IDs or unbalanced tags, and now fully supports two themes — light and dark — audited specifically for text contrast. It's delivered as source code, a GitHub repository, a short README, and a live demo that runs straight in the browser with no installation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tools side, this is a deliberately lightweight stack: HTML5 for structure, CSS3 with custom properties for a token-based design system, and vanilla JavaScript — no framework, no build step, no dependencies to install. Font Awesome handles icons, Google Fonts provides the typography, and the browser's localStorage handles all persistence — favorites, theme choice, the trip planner, and profile info. Git and GitHub handled version control and submission, and every change was backed by manual QA — checking tag balance, duplicate IDs, and JavaScript syntax.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real challenges came up along the way. Keeping one large file organized as new sections were added every week meant relying on small, consistent render functions and a shared data store, rather than letting things sprawl. Layering in dark mode late in the project meant hunting down every hardcoded white background and every color token that was doing double duty, without touching any markup or logic that already worked. And there was a genuinely hidden bug: outline buttons like Reset and Close had no explicit background set, so they were silently relying on the browser's own default button fill — which made their text invisible in dark mode until I specifically tested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habits made the biggest difference to how well this project held together over eight weeks. First, designing with tokens instead of hardcoded values — using CSS custom properties for color meant a whole new theme could be added later by overriding variables, instead of rewriting every single component. Second, testing the states I didn't originally build for — contrast issues, invisible buttons, and wrong assumptions only became visible when I actually switched themes and clicked through every control myself, not just by reading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there are three things I'd want to build next. An interactive map view, so destinations show up on an actual map instead of only a card grid. Smarter recommendations that learn from real booking history instead of just the values someone types into a form. And eventually, moving destinations and services off an inline JavaScript array and onto a small real backend or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Meridian — from the problem it solves, through its main features, to what shipped, the tools behind it, the challenges I hit, what I learned, and where it could go next. Thank you for watching, and I'm happy to answer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33B"/>
        </a:solidFill>
      </p:bgPr>
    </p:bg>
    <p:spTree>
      <p:nvGrpSpPr>
        <p:cNvPr id="1" name=""/>
        <p:cNvGrpSpPr/>
        <p:nvPr/>
      </p:nvGrpSpPr>
      <p:grpSpPr>
        <a:xfrm>
          <a:off x="0" y="0"/>
          <a:ext cx="0" cy="0"/>
          <a:chOff x="0" y="0"/>
          <a:chExt cx="0" cy="0"/>
        </a:xfrm>
      </p:grpSpPr>
      <p:sp>
        <p:nvSpPr>
          <p:cNvPr id="2" name="Shape 0"/>
          <p:cNvSpPr/>
          <p:nvPr/>
        </p:nvSpPr>
        <p:spPr>
          <a:xfrm>
            <a:off x="10241280" y="-1463040"/>
            <a:ext cx="3840480" cy="3840480"/>
          </a:xfrm>
          <a:prstGeom prst="ellipse">
            <a:avLst/>
          </a:prstGeom>
          <a:solidFill>
            <a:srgbClr val="2E3F63">
              <a:alpha val="60000"/>
            </a:srgbClr>
          </a:solidFill>
          <a:ln/>
        </p:spPr>
      </p:sp>
      <p:sp>
        <p:nvSpPr>
          <p:cNvPr id="3" name="Shape 1"/>
          <p:cNvSpPr/>
          <p:nvPr/>
        </p:nvSpPr>
        <p:spPr>
          <a:xfrm>
            <a:off x="-1280160" y="5120640"/>
            <a:ext cx="3108960" cy="3108960"/>
          </a:xfrm>
          <a:prstGeom prst="ellipse">
            <a:avLst/>
          </a:prstGeom>
          <a:solidFill>
            <a:srgbClr val="2E3F63">
              <a:alpha val="60000"/>
            </a:srgbClr>
          </a:solidFill>
          <a:ln/>
        </p:spPr>
      </p:sp>
      <p:sp>
        <p:nvSpPr>
          <p:cNvPr id="4" name="Shape 2"/>
          <p:cNvSpPr/>
          <p:nvPr/>
        </p:nvSpPr>
        <p:spPr>
          <a:xfrm>
            <a:off x="822960" y="777240"/>
            <a:ext cx="1005840" cy="1005840"/>
          </a:xfrm>
          <a:prstGeom prst="ellipse">
            <a:avLst/>
          </a:prstGeom>
          <a:solidFill>
            <a:srgbClr val="2E3F63"/>
          </a:solidFill>
          <a:ln/>
        </p:spPr>
      </p:sp>
      <p:pic>
        <p:nvPicPr>
          <p:cNvPr id="5" name="Image 0" descr="/home/claude/icons/compass.png">    </p:cNvPr>
          <p:cNvPicPr>
            <a:picLocks noChangeAspect="1"/>
          </p:cNvPicPr>
          <p:nvPr/>
        </p:nvPicPr>
        <p:blipFill>
          <a:blip r:embed="rId1"/>
          <a:stretch>
            <a:fillRect/>
          </a:stretch>
        </p:blipFill>
        <p:spPr>
          <a:xfrm>
            <a:off x="1024128" y="978408"/>
            <a:ext cx="603504" cy="603504"/>
          </a:xfrm>
          <a:prstGeom prst="rect">
            <a:avLst/>
          </a:prstGeom>
        </p:spPr>
      </p:pic>
      <p:sp>
        <p:nvSpPr>
          <p:cNvPr id="6" name="Text 3"/>
          <p:cNvSpPr/>
          <p:nvPr/>
        </p:nvSpPr>
        <p:spPr>
          <a:xfrm>
            <a:off x="777240" y="2331720"/>
            <a:ext cx="9144000" cy="1097280"/>
          </a:xfrm>
          <a:prstGeom prst="rect">
            <a:avLst/>
          </a:prstGeom>
          <a:noFill/>
          <a:ln/>
        </p:spPr>
        <p:txBody>
          <a:bodyPr wrap="square"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MERIDIAN</a:t>
            </a:r>
            <a:endParaRPr lang="en-US" sz="5400" dirty="0"/>
          </a:p>
        </p:txBody>
      </p:sp>
      <p:sp>
        <p:nvSpPr>
          <p:cNvPr id="7" name="Text 4"/>
          <p:cNvSpPr/>
          <p:nvPr/>
        </p:nvSpPr>
        <p:spPr>
          <a:xfrm>
            <a:off x="822960" y="3246120"/>
            <a:ext cx="8229600" cy="457200"/>
          </a:xfrm>
          <a:prstGeom prst="rect">
            <a:avLst/>
          </a:prstGeom>
          <a:noFill/>
          <a:ln/>
        </p:spPr>
        <p:txBody>
          <a:bodyPr wrap="square"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Travel, mapped for who you are.</a:t>
            </a:r>
            <a:endParaRPr lang="en-US" sz="1800" dirty="0"/>
          </a:p>
        </p:txBody>
      </p:sp>
      <p:sp>
        <p:nvSpPr>
          <p:cNvPr id="8" name="Shape 5"/>
          <p:cNvSpPr/>
          <p:nvPr/>
        </p:nvSpPr>
        <p:spPr>
          <a:xfrm>
            <a:off x="822960" y="3886200"/>
            <a:ext cx="2011680" cy="0"/>
          </a:xfrm>
          <a:prstGeom prst="line">
            <a:avLst/>
          </a:prstGeom>
          <a:noFill/>
          <a:ln w="31750">
            <a:solidFill>
              <a:srgbClr val="F0653E"/>
            </a:solidFill>
            <a:prstDash val="solid"/>
          </a:ln>
        </p:spPr>
      </p:sp>
      <p:sp>
        <p:nvSpPr>
          <p:cNvPr id="9" name="Text 6"/>
          <p:cNvSpPr/>
          <p:nvPr/>
        </p:nvSpPr>
        <p:spPr>
          <a:xfrm>
            <a:off x="822960" y="4114800"/>
            <a:ext cx="8686800" cy="365760"/>
          </a:xfrm>
          <a:prstGeom prst="rect">
            <a:avLst/>
          </a:prstGeom>
          <a:noFill/>
          <a:ln/>
        </p:spPr>
        <p:txBody>
          <a:bodyPr wrap="square" rtlCol="0" anchor="ctr"/>
          <a:lstStyle/>
          <a:p>
            <a:pPr indent="0" marL="0">
              <a:buNone/>
            </a:pPr>
            <a:r>
              <a:rPr lang="en-US" sz="1500" dirty="0">
                <a:solidFill>
                  <a:srgbClr val="D7DAE2"/>
                </a:solidFill>
                <a:latin typeface="Calibri" pitchFamily="34" charset="0"/>
                <a:ea typeface="Calibri" pitchFamily="34" charset="-122"/>
                <a:cs typeface="Calibri" pitchFamily="34" charset="-120"/>
              </a:rPr>
              <a:t>Travel &amp; Tourism Experience Platform — Final Project Demo</a:t>
            </a:r>
            <a:endParaRPr lang="en-US" sz="1500" dirty="0"/>
          </a:p>
        </p:txBody>
      </p:sp>
      <p:sp>
        <p:nvSpPr>
          <p:cNvPr id="10" name="Text 7"/>
          <p:cNvSpPr/>
          <p:nvPr/>
        </p:nvSpPr>
        <p:spPr>
          <a:xfrm>
            <a:off x="822960" y="5349240"/>
            <a:ext cx="9601200" cy="320040"/>
          </a:xfrm>
          <a:prstGeom prst="rect">
            <a:avLst/>
          </a:prstGeom>
          <a:noFill/>
          <a:ln/>
        </p:spPr>
        <p:txBody>
          <a:bodyPr wrap="square" rtlCol="0" anchor="ctr"/>
          <a:lstStyle/>
          <a:p>
            <a:pPr indent="0" marL="0">
              <a:buNone/>
            </a:pPr>
            <a:r>
              <a:rPr lang="en-US" sz="1250" dirty="0">
                <a:solidFill>
                  <a:srgbClr val="9FB0D0"/>
                </a:solidFill>
                <a:latin typeface="Calibri" pitchFamily="34" charset="0"/>
                <a:ea typeface="Calibri" pitchFamily="34" charset="-122"/>
                <a:cs typeface="Calibri" pitchFamily="34" charset="-120"/>
              </a:rPr>
              <a:t>CODIORA House (Private) Limited  ·  2-Month Remote Internship, Batch 3  ·  Week 8</a:t>
            </a:r>
            <a:endParaRPr lang="en-US" sz="1250" dirty="0"/>
          </a:p>
        </p:txBody>
      </p:sp>
      <p:sp>
        <p:nvSpPr>
          <p:cNvPr id="11" name="Text 8"/>
          <p:cNvSpPr/>
          <p:nvPr/>
        </p:nvSpPr>
        <p:spPr>
          <a:xfrm>
            <a:off x="822960" y="5687568"/>
            <a:ext cx="9601200" cy="32004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Presented by Iqra Noor</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300" b="1" spc="200" kern="0" dirty="0">
                <a:solidFill>
                  <a:srgbClr val="F0653E"/>
                </a:solidFill>
                <a:latin typeface="Calibri" pitchFamily="34" charset="0"/>
                <a:ea typeface="Calibri" pitchFamily="34" charset="-122"/>
                <a:cs typeface="Calibri" pitchFamily="34" charset="-120"/>
              </a:rPr>
              <a:t>01 · INTRODUCTION</a:t>
            </a:r>
            <a:endParaRPr lang="en-US" sz="1300" dirty="0"/>
          </a:p>
        </p:txBody>
      </p:sp>
      <p:sp>
        <p:nvSpPr>
          <p:cNvPr id="3" name="Text 1"/>
          <p:cNvSpPr/>
          <p:nvPr/>
        </p:nvSpPr>
        <p:spPr>
          <a:xfrm>
            <a:off x="548640" y="749808"/>
            <a:ext cx="10607040" cy="731520"/>
          </a:xfrm>
          <a:prstGeom prst="rect">
            <a:avLst/>
          </a:prstGeom>
          <a:noFill/>
          <a:ln/>
        </p:spPr>
        <p:txBody>
          <a:bodyPr wrap="square" rtlCol="0" anchor="ctr"/>
          <a:lstStyle/>
          <a:p>
            <a:pPr indent="0" marL="0">
              <a:buNone/>
            </a:pPr>
            <a:r>
              <a:rPr lang="en-US" sz="3200" b="1" dirty="0">
                <a:solidFill>
                  <a:srgbClr val="15171C"/>
                </a:solidFill>
                <a:latin typeface="Cambria" pitchFamily="34" charset="0"/>
                <a:ea typeface="Cambria" pitchFamily="34" charset="-122"/>
                <a:cs typeface="Cambria" pitchFamily="34" charset="-120"/>
              </a:rPr>
              <a:t>What is Meridian?</a:t>
            </a:r>
            <a:endParaRPr lang="en-US" sz="3200" dirty="0"/>
          </a:p>
        </p:txBody>
      </p:sp>
      <p:sp>
        <p:nvSpPr>
          <p:cNvPr id="4" name="Shape 2"/>
          <p:cNvSpPr/>
          <p:nvPr/>
        </p:nvSpPr>
        <p:spPr>
          <a:xfrm>
            <a:off x="548640" y="1691640"/>
            <a:ext cx="6720840" cy="4297680"/>
          </a:xfrm>
          <a:prstGeom prst="roundRect">
            <a:avLst>
              <a:gd name="adj" fmla="val 2553"/>
            </a:avLst>
          </a:prstGeom>
          <a:solidFill>
            <a:srgbClr val="F7F7F9"/>
          </a:solidFill>
          <a:ln/>
        </p:spPr>
      </p:sp>
      <p:sp>
        <p:nvSpPr>
          <p:cNvPr id="5" name="Text 3"/>
          <p:cNvSpPr/>
          <p:nvPr/>
        </p:nvSpPr>
        <p:spPr>
          <a:xfrm>
            <a:off x="868680" y="1965960"/>
            <a:ext cx="6126480" cy="1188720"/>
          </a:xfrm>
          <a:prstGeom prst="rect">
            <a:avLst/>
          </a:prstGeom>
          <a:noFill/>
          <a:ln/>
        </p:spPr>
        <p:txBody>
          <a:bodyPr wrap="square" rtlCol="0" anchor="t"/>
          <a:lstStyle/>
          <a:p>
            <a:pPr indent="0" marL="0">
              <a:buNone/>
            </a:pPr>
            <a:r>
              <a:rPr lang="en-US" sz="1500" dirty="0">
                <a:solidFill>
                  <a:srgbClr val="15171C"/>
                </a:solidFill>
                <a:latin typeface="Calibri" pitchFamily="34" charset="0"/>
                <a:ea typeface="Calibri" pitchFamily="34" charset="-122"/>
                <a:cs typeface="Calibri" pitchFamily="34" charset="-120"/>
              </a:rPr>
              <a:t>Meridian is a single-file HTML, CSS, and JavaScript travel discovery platform, built across an 8-week internship and finalized in Week 8 into one polished, professional product.</a:t>
            </a:r>
            <a:endParaRPr lang="en-US" sz="1500" dirty="0"/>
          </a:p>
        </p:txBody>
      </p:sp>
      <p:sp>
        <p:nvSpPr>
          <p:cNvPr id="6" name="Text 4"/>
          <p:cNvSpPr/>
          <p:nvPr/>
        </p:nvSpPr>
        <p:spPr>
          <a:xfrm>
            <a:off x="868680" y="3246120"/>
            <a:ext cx="6126480" cy="1188720"/>
          </a:xfrm>
          <a:prstGeom prst="rect">
            <a:avLst/>
          </a:prstGeom>
          <a:noFill/>
          <a:ln/>
        </p:spPr>
        <p:txBody>
          <a:bodyPr wrap="square" rtlCol="0" anchor="t"/>
          <a:lstStyle/>
          <a:p>
            <a:pPr indent="0" marL="0">
              <a:buNone/>
            </a:pPr>
            <a:r>
              <a:rPr lang="en-US" sz="1500" dirty="0">
                <a:solidFill>
                  <a:srgbClr val="15171C"/>
                </a:solidFill>
                <a:latin typeface="Calibri" pitchFamily="34" charset="0"/>
                <a:ea typeface="Calibri" pitchFamily="34" charset="-122"/>
                <a:cs typeface="Calibri" pitchFamily="34" charset="-120"/>
              </a:rPr>
              <a:t>It brings destination discovery, trip planning, service booking, reviews, and a smart recommendation assistant together in one responsive, accessible, light/dark-mode-aware experience.</a:t>
            </a:r>
            <a:endParaRPr lang="en-US" sz="1500" dirty="0"/>
          </a:p>
        </p:txBody>
      </p:sp>
      <p:sp>
        <p:nvSpPr>
          <p:cNvPr id="7" name="Shape 5"/>
          <p:cNvSpPr/>
          <p:nvPr/>
        </p:nvSpPr>
        <p:spPr>
          <a:xfrm>
            <a:off x="868680" y="4572000"/>
            <a:ext cx="5852160" cy="0"/>
          </a:xfrm>
          <a:prstGeom prst="line">
            <a:avLst/>
          </a:prstGeom>
          <a:noFill/>
          <a:ln w="12700">
            <a:solidFill>
              <a:srgbClr val="E9E5DD"/>
            </a:solidFill>
            <a:prstDash val="solid"/>
          </a:ln>
        </p:spPr>
      </p:sp>
      <p:sp>
        <p:nvSpPr>
          <p:cNvPr id="8" name="Text 6"/>
          <p:cNvSpPr/>
          <p:nvPr/>
        </p:nvSpPr>
        <p:spPr>
          <a:xfrm>
            <a:off x="868680" y="4709160"/>
            <a:ext cx="6126480" cy="1005840"/>
          </a:xfrm>
          <a:prstGeom prst="rect">
            <a:avLst/>
          </a:prstGeom>
          <a:noFill/>
          <a:ln/>
        </p:spPr>
        <p:txBody>
          <a:bodyPr wrap="square" rtlCol="0" anchor="t"/>
          <a:lstStyle/>
          <a:p>
            <a:pPr indent="0" marL="0">
              <a:buNone/>
            </a:pPr>
            <a:r>
              <a:rPr lang="en-US" sz="1350" i="1" dirty="0">
                <a:solidFill>
                  <a:srgbClr val="6C7078"/>
                </a:solidFill>
                <a:latin typeface="Calibri" pitchFamily="34" charset="0"/>
                <a:ea typeface="Calibri" pitchFamily="34" charset="-122"/>
                <a:cs typeface="Calibri" pitchFamily="34" charset="-120"/>
              </a:rPr>
              <a:t>Built solo, front to back — HTML structure, CSS design system, and all JavaScript behavior.</a:t>
            </a:r>
            <a:endParaRPr lang="en-US" sz="1350" dirty="0"/>
          </a:p>
        </p:txBody>
      </p:sp>
      <p:sp>
        <p:nvSpPr>
          <p:cNvPr id="9" name="Shape 7"/>
          <p:cNvSpPr/>
          <p:nvPr/>
        </p:nvSpPr>
        <p:spPr>
          <a:xfrm>
            <a:off x="7543800" y="1783080"/>
            <a:ext cx="548640" cy="548640"/>
          </a:xfrm>
          <a:prstGeom prst="ellipse">
            <a:avLst/>
          </a:prstGeom>
          <a:solidFill>
            <a:srgbClr val="17233B"/>
          </a:solidFill>
          <a:ln/>
        </p:spPr>
      </p:sp>
      <p:pic>
        <p:nvPicPr>
          <p:cNvPr id="10" name="Image 0" descr="/home/claude/icons/route.png">    </p:cNvPr>
          <p:cNvPicPr>
            <a:picLocks noChangeAspect="1"/>
          </p:cNvPicPr>
          <p:nvPr/>
        </p:nvPicPr>
        <p:blipFill>
          <a:blip r:embed="rId1"/>
          <a:stretch>
            <a:fillRect/>
          </a:stretch>
        </p:blipFill>
        <p:spPr>
          <a:xfrm>
            <a:off x="7667244" y="1906524"/>
            <a:ext cx="301752" cy="301752"/>
          </a:xfrm>
          <a:prstGeom prst="rect">
            <a:avLst/>
          </a:prstGeom>
        </p:spPr>
      </p:pic>
      <p:sp>
        <p:nvSpPr>
          <p:cNvPr id="11" name="Text 8"/>
          <p:cNvSpPr/>
          <p:nvPr/>
        </p:nvSpPr>
        <p:spPr>
          <a:xfrm>
            <a:off x="8275320" y="1737360"/>
            <a:ext cx="3291840" cy="365760"/>
          </a:xfrm>
          <a:prstGeom prst="rect">
            <a:avLst/>
          </a:prstGeom>
          <a:noFill/>
          <a:ln/>
        </p:spPr>
        <p:txBody>
          <a:bodyPr wrap="square" rtlCol="0" anchor="ctr"/>
          <a:lstStyle/>
          <a:p>
            <a:pPr indent="0" marL="0">
              <a:buNone/>
            </a:pPr>
            <a:r>
              <a:rPr lang="en-US" sz="2000" b="1" dirty="0">
                <a:solidFill>
                  <a:srgbClr val="17233B"/>
                </a:solidFill>
                <a:latin typeface="Cambria" pitchFamily="34" charset="0"/>
                <a:ea typeface="Cambria" pitchFamily="34" charset="-122"/>
                <a:cs typeface="Cambria" pitchFamily="34" charset="-120"/>
              </a:rPr>
              <a:t>1 file</a:t>
            </a:r>
            <a:endParaRPr lang="en-US" sz="2000" dirty="0"/>
          </a:p>
        </p:txBody>
      </p:sp>
      <p:sp>
        <p:nvSpPr>
          <p:cNvPr id="12" name="Text 9"/>
          <p:cNvSpPr/>
          <p:nvPr/>
        </p:nvSpPr>
        <p:spPr>
          <a:xfrm>
            <a:off x="8275320" y="2103120"/>
            <a:ext cx="3291840" cy="502920"/>
          </a:xfrm>
          <a:prstGeom prst="rect">
            <a:avLst/>
          </a:prstGeom>
          <a:noFill/>
          <a:ln/>
        </p:spPr>
        <p:txBody>
          <a:bodyPr wrap="square" rtlCol="0" anchor="ctr"/>
          <a:lstStyle/>
          <a:p>
            <a:pPr indent="0" marL="0">
              <a:buNone/>
            </a:pPr>
            <a:r>
              <a:rPr lang="en-US" sz="1150" dirty="0">
                <a:solidFill>
                  <a:srgbClr val="6C7078"/>
                </a:solidFill>
                <a:latin typeface="Calibri" pitchFamily="34" charset="0"/>
                <a:ea typeface="Calibri" pitchFamily="34" charset="-122"/>
                <a:cs typeface="Calibri" pitchFamily="34" charset="-120"/>
              </a:rPr>
              <a:t>HTML + CSS + JS, no build step</a:t>
            </a:r>
            <a:endParaRPr lang="en-US" sz="1150" dirty="0"/>
          </a:p>
        </p:txBody>
      </p:sp>
      <p:sp>
        <p:nvSpPr>
          <p:cNvPr id="13" name="Shape 10"/>
          <p:cNvSpPr/>
          <p:nvPr/>
        </p:nvSpPr>
        <p:spPr>
          <a:xfrm>
            <a:off x="7543800" y="3154680"/>
            <a:ext cx="548640" cy="548640"/>
          </a:xfrm>
          <a:prstGeom prst="ellipse">
            <a:avLst/>
          </a:prstGeom>
          <a:solidFill>
            <a:srgbClr val="17233B"/>
          </a:solidFill>
          <a:ln/>
        </p:spPr>
      </p:sp>
      <p:pic>
        <p:nvPicPr>
          <p:cNvPr id="14" name="Image 1" descr="/home/claude/icons/suitcase.png">    </p:cNvPr>
          <p:cNvPicPr>
            <a:picLocks noChangeAspect="1"/>
          </p:cNvPicPr>
          <p:nvPr/>
        </p:nvPicPr>
        <p:blipFill>
          <a:blip r:embed="rId2"/>
          <a:stretch>
            <a:fillRect/>
          </a:stretch>
        </p:blipFill>
        <p:spPr>
          <a:xfrm>
            <a:off x="7667244" y="3278124"/>
            <a:ext cx="301752" cy="301752"/>
          </a:xfrm>
          <a:prstGeom prst="rect">
            <a:avLst/>
          </a:prstGeom>
        </p:spPr>
      </p:pic>
      <p:sp>
        <p:nvSpPr>
          <p:cNvPr id="15" name="Text 11"/>
          <p:cNvSpPr/>
          <p:nvPr/>
        </p:nvSpPr>
        <p:spPr>
          <a:xfrm>
            <a:off x="8275320" y="3108960"/>
            <a:ext cx="3291840" cy="365760"/>
          </a:xfrm>
          <a:prstGeom prst="rect">
            <a:avLst/>
          </a:prstGeom>
          <a:noFill/>
          <a:ln/>
        </p:spPr>
        <p:txBody>
          <a:bodyPr wrap="square" rtlCol="0" anchor="ctr"/>
          <a:lstStyle/>
          <a:p>
            <a:pPr indent="0" marL="0">
              <a:buNone/>
            </a:pPr>
            <a:r>
              <a:rPr lang="en-US" sz="2000" b="1" dirty="0">
                <a:solidFill>
                  <a:srgbClr val="17233B"/>
                </a:solidFill>
                <a:latin typeface="Cambria" pitchFamily="34" charset="0"/>
                <a:ea typeface="Cambria" pitchFamily="34" charset="-122"/>
                <a:cs typeface="Cambria" pitchFamily="34" charset="-120"/>
              </a:rPr>
              <a:t>8 weeks</a:t>
            </a:r>
            <a:endParaRPr lang="en-US" sz="2000" dirty="0"/>
          </a:p>
        </p:txBody>
      </p:sp>
      <p:sp>
        <p:nvSpPr>
          <p:cNvPr id="16" name="Text 12"/>
          <p:cNvSpPr/>
          <p:nvPr/>
        </p:nvSpPr>
        <p:spPr>
          <a:xfrm>
            <a:off x="8275320" y="3474720"/>
            <a:ext cx="3291840" cy="502920"/>
          </a:xfrm>
          <a:prstGeom prst="rect">
            <a:avLst/>
          </a:prstGeom>
          <a:noFill/>
          <a:ln/>
        </p:spPr>
        <p:txBody>
          <a:bodyPr wrap="square" rtlCol="0" anchor="ctr"/>
          <a:lstStyle/>
          <a:p>
            <a:pPr indent="0" marL="0">
              <a:buNone/>
            </a:pPr>
            <a:r>
              <a:rPr lang="en-US" sz="1150" dirty="0">
                <a:solidFill>
                  <a:srgbClr val="6C7078"/>
                </a:solidFill>
                <a:latin typeface="Calibri" pitchFamily="34" charset="0"/>
                <a:ea typeface="Calibri" pitchFamily="34" charset="-122"/>
                <a:cs typeface="Calibri" pitchFamily="34" charset="-120"/>
              </a:rPr>
              <a:t>of features combined into one build</a:t>
            </a:r>
            <a:endParaRPr lang="en-US" sz="1150" dirty="0"/>
          </a:p>
        </p:txBody>
      </p:sp>
      <p:sp>
        <p:nvSpPr>
          <p:cNvPr id="17" name="Shape 13"/>
          <p:cNvSpPr/>
          <p:nvPr/>
        </p:nvSpPr>
        <p:spPr>
          <a:xfrm>
            <a:off x="7543800" y="4526280"/>
            <a:ext cx="548640" cy="548640"/>
          </a:xfrm>
          <a:prstGeom prst="ellipse">
            <a:avLst/>
          </a:prstGeom>
          <a:solidFill>
            <a:srgbClr val="17233B"/>
          </a:solidFill>
          <a:ln/>
        </p:spPr>
      </p:sp>
      <p:pic>
        <p:nvPicPr>
          <p:cNvPr id="18" name="Image 2" descr="/home/claude/icons/moon.png">    </p:cNvPr>
          <p:cNvPicPr>
            <a:picLocks noChangeAspect="1"/>
          </p:cNvPicPr>
          <p:nvPr/>
        </p:nvPicPr>
        <p:blipFill>
          <a:blip r:embed="rId3"/>
          <a:stretch>
            <a:fillRect/>
          </a:stretch>
        </p:blipFill>
        <p:spPr>
          <a:xfrm>
            <a:off x="7667244" y="4649724"/>
            <a:ext cx="301752" cy="301752"/>
          </a:xfrm>
          <a:prstGeom prst="rect">
            <a:avLst/>
          </a:prstGeom>
        </p:spPr>
      </p:pic>
      <p:sp>
        <p:nvSpPr>
          <p:cNvPr id="19" name="Text 14"/>
          <p:cNvSpPr/>
          <p:nvPr/>
        </p:nvSpPr>
        <p:spPr>
          <a:xfrm>
            <a:off x="8275320" y="4480560"/>
            <a:ext cx="3291840" cy="365760"/>
          </a:xfrm>
          <a:prstGeom prst="rect">
            <a:avLst/>
          </a:prstGeom>
          <a:noFill/>
          <a:ln/>
        </p:spPr>
        <p:txBody>
          <a:bodyPr wrap="square" rtlCol="0" anchor="ctr"/>
          <a:lstStyle/>
          <a:p>
            <a:pPr indent="0" marL="0">
              <a:buNone/>
            </a:pPr>
            <a:r>
              <a:rPr lang="en-US" sz="2000" b="1" dirty="0">
                <a:solidFill>
                  <a:srgbClr val="17233B"/>
                </a:solidFill>
                <a:latin typeface="Cambria" pitchFamily="34" charset="0"/>
                <a:ea typeface="Cambria" pitchFamily="34" charset="-122"/>
                <a:cs typeface="Cambria" pitchFamily="34" charset="-120"/>
              </a:rPr>
              <a:t>2 themes</a:t>
            </a:r>
            <a:endParaRPr lang="en-US" sz="2000" dirty="0"/>
          </a:p>
        </p:txBody>
      </p:sp>
      <p:sp>
        <p:nvSpPr>
          <p:cNvPr id="20" name="Text 15"/>
          <p:cNvSpPr/>
          <p:nvPr/>
        </p:nvSpPr>
        <p:spPr>
          <a:xfrm>
            <a:off x="8275320" y="4846320"/>
            <a:ext cx="3291840" cy="502920"/>
          </a:xfrm>
          <a:prstGeom prst="rect">
            <a:avLst/>
          </a:prstGeom>
          <a:noFill/>
          <a:ln/>
        </p:spPr>
        <p:txBody>
          <a:bodyPr wrap="square" rtlCol="0" anchor="ctr"/>
          <a:lstStyle/>
          <a:p>
            <a:pPr indent="0" marL="0">
              <a:buNone/>
            </a:pPr>
            <a:r>
              <a:rPr lang="en-US" sz="1150" dirty="0">
                <a:solidFill>
                  <a:srgbClr val="6C7078"/>
                </a:solidFill>
                <a:latin typeface="Calibri" pitchFamily="34" charset="0"/>
                <a:ea typeface="Calibri" pitchFamily="34" charset="-122"/>
                <a:cs typeface="Calibri" pitchFamily="34" charset="-120"/>
              </a:rPr>
              <a:t>light &amp; dark, saved automatically</a:t>
            </a:r>
            <a:endParaRPr lang="en-US" sz="1150" dirty="0"/>
          </a:p>
        </p:txBody>
      </p:sp>
      <p:sp>
        <p:nvSpPr>
          <p:cNvPr id="21" name="Text 16"/>
          <p:cNvSpPr/>
          <p:nvPr/>
        </p:nvSpPr>
        <p:spPr>
          <a:xfrm>
            <a:off x="457200" y="6510528"/>
            <a:ext cx="7315200" cy="274320"/>
          </a:xfrm>
          <a:prstGeom prst="rect">
            <a:avLst/>
          </a:prstGeom>
          <a:noFill/>
          <a:ln/>
        </p:spPr>
        <p:txBody>
          <a:bodyPr wrap="square" rtlCol="0" anchor="ctr"/>
          <a:lstStyle/>
          <a:p>
            <a:pPr indent="0" marL="0">
              <a:buNone/>
            </a:pPr>
            <a:r>
              <a:rPr lang="en-US" sz="900" i="1" dirty="0">
                <a:solidFill>
                  <a:srgbClr val="6C7078"/>
                </a:solidFill>
                <a:latin typeface="Calibri" pitchFamily="34" charset="0"/>
                <a:ea typeface="Calibri" pitchFamily="34" charset="-122"/>
                <a:cs typeface="Calibri" pitchFamily="34" charset="-120"/>
              </a:rPr>
              <a:t>MERIDIAN  ·  CODIORA HOUSE WEEK 8 FINAL PROJECT</a:t>
            </a:r>
            <a:endParaRPr lang="en-US" sz="900" dirty="0"/>
          </a:p>
        </p:txBody>
      </p:sp>
      <p:sp>
        <p:nvSpPr>
          <p:cNvPr id="22" name="Text 17"/>
          <p:cNvSpPr/>
          <p:nvPr/>
        </p:nvSpPr>
        <p:spPr>
          <a:xfrm>
            <a:off x="10332720" y="6510528"/>
            <a:ext cx="1371600" cy="274320"/>
          </a:xfrm>
          <a:prstGeom prst="rect">
            <a:avLst/>
          </a:prstGeom>
          <a:noFill/>
          <a:ln/>
        </p:spPr>
        <p:txBody>
          <a:bodyPr wrap="square" rtlCol="0" anchor="ctr"/>
          <a:lstStyle/>
          <a:p>
            <a:pPr algn="r" indent="0" marL="0">
              <a:buNone/>
            </a:pPr>
            <a:r>
              <a:rPr lang="en-US" sz="900" dirty="0">
                <a:solidFill>
                  <a:srgbClr val="6C707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300" b="1" spc="200" kern="0" dirty="0">
                <a:solidFill>
                  <a:srgbClr val="E3A23C"/>
                </a:solidFill>
                <a:latin typeface="Calibri" pitchFamily="34" charset="0"/>
                <a:ea typeface="Calibri" pitchFamily="34" charset="-122"/>
                <a:cs typeface="Calibri" pitchFamily="34" charset="-120"/>
              </a:rPr>
              <a:t>02 · THE PROBLEM</a:t>
            </a:r>
            <a:endParaRPr lang="en-US" sz="1300" dirty="0"/>
          </a:p>
        </p:txBody>
      </p:sp>
      <p:sp>
        <p:nvSpPr>
          <p:cNvPr id="3" name="Text 1"/>
          <p:cNvSpPr/>
          <p:nvPr/>
        </p:nvSpPr>
        <p:spPr>
          <a:xfrm>
            <a:off x="548640" y="749808"/>
            <a:ext cx="10607040" cy="731520"/>
          </a:xfrm>
          <a:prstGeom prst="rect">
            <a:avLst/>
          </a:prstGeom>
          <a:noFill/>
          <a:ln/>
        </p:spPr>
        <p:txBody>
          <a:bodyPr wrap="square" rtlCol="0" anchor="ctr"/>
          <a:lstStyle/>
          <a:p>
            <a:pPr indent="0" marL="0">
              <a:buNone/>
            </a:pPr>
            <a:r>
              <a:rPr lang="en-US" sz="3200" b="1" dirty="0">
                <a:solidFill>
                  <a:srgbClr val="15171C"/>
                </a:solidFill>
                <a:latin typeface="Cambria" pitchFamily="34" charset="0"/>
                <a:ea typeface="Cambria" pitchFamily="34" charset="-122"/>
                <a:cs typeface="Cambria" pitchFamily="34" charset="-120"/>
              </a:rPr>
              <a:t>Problem being solved</a:t>
            </a:r>
            <a:endParaRPr lang="en-US" sz="3200" dirty="0"/>
          </a:p>
        </p:txBody>
      </p:sp>
      <p:sp>
        <p:nvSpPr>
          <p:cNvPr id="4" name="Shape 2"/>
          <p:cNvSpPr/>
          <p:nvPr/>
        </p:nvSpPr>
        <p:spPr>
          <a:xfrm>
            <a:off x="548640" y="1828800"/>
            <a:ext cx="1188720" cy="1188720"/>
          </a:xfrm>
          <a:prstGeom prst="ellipse">
            <a:avLst/>
          </a:prstGeom>
          <a:solidFill>
            <a:srgbClr val="17233B"/>
          </a:solidFill>
          <a:ln/>
        </p:spPr>
      </p:sp>
      <p:pic>
        <p:nvPicPr>
          <p:cNvPr id="5" name="Image 0" descr="/home/claude/icons/question.png">    </p:cNvPr>
          <p:cNvPicPr>
            <a:picLocks noChangeAspect="1"/>
          </p:cNvPicPr>
          <p:nvPr/>
        </p:nvPicPr>
        <p:blipFill>
          <a:blip r:embed="rId1"/>
          <a:stretch>
            <a:fillRect/>
          </a:stretch>
        </p:blipFill>
        <p:spPr>
          <a:xfrm>
            <a:off x="816102" y="2096262"/>
            <a:ext cx="653796" cy="653796"/>
          </a:xfrm>
          <a:prstGeom prst="rect">
            <a:avLst/>
          </a:prstGeom>
        </p:spPr>
      </p:pic>
      <p:sp>
        <p:nvSpPr>
          <p:cNvPr id="6" name="Text 3"/>
          <p:cNvSpPr/>
          <p:nvPr/>
        </p:nvSpPr>
        <p:spPr>
          <a:xfrm>
            <a:off x="1965960" y="1783080"/>
            <a:ext cx="9418320" cy="1005840"/>
          </a:xfrm>
          <a:prstGeom prst="rect">
            <a:avLst/>
          </a:prstGeom>
          <a:noFill/>
          <a:ln/>
        </p:spPr>
        <p:txBody>
          <a:bodyPr wrap="square" rtlCol="0" anchor="t"/>
          <a:lstStyle/>
          <a:p>
            <a:pPr indent="0" marL="0">
              <a:buNone/>
            </a:pPr>
            <a:r>
              <a:rPr lang="en-US" sz="1700" dirty="0">
                <a:solidFill>
                  <a:srgbClr val="15171C"/>
                </a:solidFill>
                <a:latin typeface="Calibri" pitchFamily="34" charset="0"/>
                <a:ea typeface="Calibri" pitchFamily="34" charset="-122"/>
                <a:cs typeface="Calibri" pitchFamily="34" charset="-120"/>
              </a:rPr>
              <a:t>Travel sites usually make people start over every visit — re-typing the same budget, re-picking the same trail type, re-searching the same regions.</a:t>
            </a:r>
            <a:endParaRPr lang="en-US" sz="1700" dirty="0"/>
          </a:p>
        </p:txBody>
      </p:sp>
      <p:sp>
        <p:nvSpPr>
          <p:cNvPr id="7" name="Shape 4"/>
          <p:cNvSpPr/>
          <p:nvPr/>
        </p:nvSpPr>
        <p:spPr>
          <a:xfrm>
            <a:off x="548640" y="3063240"/>
            <a:ext cx="3520440" cy="2926080"/>
          </a:xfrm>
          <a:prstGeom prst="roundRect">
            <a:avLst>
              <a:gd name="adj" fmla="val 3125"/>
            </a:avLst>
          </a:prstGeom>
          <a:solidFill>
            <a:srgbClr val="F7F7F9"/>
          </a:solidFill>
          <a:ln/>
        </p:spPr>
      </p:sp>
      <p:sp>
        <p:nvSpPr>
          <p:cNvPr id="8" name="Shape 5"/>
          <p:cNvSpPr/>
          <p:nvPr/>
        </p:nvSpPr>
        <p:spPr>
          <a:xfrm>
            <a:off x="822960" y="3337560"/>
            <a:ext cx="685800" cy="685800"/>
          </a:xfrm>
          <a:prstGeom prst="ellipse">
            <a:avLst/>
          </a:prstGeom>
          <a:solidFill>
            <a:srgbClr val="17233B"/>
          </a:solidFill>
          <a:ln/>
        </p:spPr>
      </p:sp>
      <p:pic>
        <p:nvPicPr>
          <p:cNvPr id="9" name="Image 1" descr="/home/claude/icons/heart.png">    </p:cNvPr>
          <p:cNvPicPr>
            <a:picLocks noChangeAspect="1"/>
          </p:cNvPicPr>
          <p:nvPr/>
        </p:nvPicPr>
        <p:blipFill>
          <a:blip r:embed="rId2"/>
          <a:stretch>
            <a:fillRect/>
          </a:stretch>
        </p:blipFill>
        <p:spPr>
          <a:xfrm>
            <a:off x="977265" y="3491865"/>
            <a:ext cx="377190" cy="377190"/>
          </a:xfrm>
          <a:prstGeom prst="rect">
            <a:avLst/>
          </a:prstGeom>
        </p:spPr>
      </p:pic>
      <p:sp>
        <p:nvSpPr>
          <p:cNvPr id="10" name="Text 6"/>
          <p:cNvSpPr/>
          <p:nvPr/>
        </p:nvSpPr>
        <p:spPr>
          <a:xfrm>
            <a:off x="822960" y="4160520"/>
            <a:ext cx="2971800" cy="411480"/>
          </a:xfrm>
          <a:prstGeom prst="rect">
            <a:avLst/>
          </a:prstGeom>
          <a:noFill/>
          <a:ln/>
        </p:spPr>
        <p:txBody>
          <a:bodyPr wrap="square" rtlCol="0" anchor="ctr"/>
          <a:lstStyle/>
          <a:p>
            <a:pPr indent="0" marL="0">
              <a:buNone/>
            </a:pPr>
            <a:r>
              <a:rPr lang="en-US" sz="1600" b="1" dirty="0">
                <a:solidFill>
                  <a:srgbClr val="15171C"/>
                </a:solidFill>
                <a:latin typeface="Cambria" pitchFamily="34" charset="0"/>
                <a:ea typeface="Cambria" pitchFamily="34" charset="-122"/>
                <a:cs typeface="Cambria" pitchFamily="34" charset="-120"/>
              </a:rPr>
              <a:t>No memory</a:t>
            </a:r>
            <a:endParaRPr lang="en-US" sz="1600" dirty="0"/>
          </a:p>
        </p:txBody>
      </p:sp>
      <p:sp>
        <p:nvSpPr>
          <p:cNvPr id="11" name="Text 7"/>
          <p:cNvSpPr/>
          <p:nvPr/>
        </p:nvSpPr>
        <p:spPr>
          <a:xfrm>
            <a:off x="822960" y="4590288"/>
            <a:ext cx="2971800" cy="1280160"/>
          </a:xfrm>
          <a:prstGeom prst="rect">
            <a:avLst/>
          </a:prstGeom>
          <a:noFill/>
          <a:ln/>
        </p:spPr>
        <p:txBody>
          <a:bodyPr wrap="square" rtlCol="0" anchor="t"/>
          <a:lstStyle/>
          <a:p>
            <a:pPr indent="0" marL="0">
              <a:buNone/>
            </a:pPr>
            <a:r>
              <a:rPr lang="en-US" sz="1250" dirty="0">
                <a:solidFill>
                  <a:srgbClr val="6C7078"/>
                </a:solidFill>
                <a:latin typeface="Calibri" pitchFamily="34" charset="0"/>
                <a:ea typeface="Calibri" pitchFamily="34" charset="-122"/>
                <a:cs typeface="Calibri" pitchFamily="34" charset="-120"/>
              </a:rPr>
              <a:t>Favorites and recently viewed places are forgotten the moment the tab closes.</a:t>
            </a:r>
            <a:endParaRPr lang="en-US" sz="1250" dirty="0"/>
          </a:p>
        </p:txBody>
      </p:sp>
      <p:sp>
        <p:nvSpPr>
          <p:cNvPr id="12" name="Shape 8"/>
          <p:cNvSpPr/>
          <p:nvPr/>
        </p:nvSpPr>
        <p:spPr>
          <a:xfrm>
            <a:off x="4251960" y="3063240"/>
            <a:ext cx="3520440" cy="2926080"/>
          </a:xfrm>
          <a:prstGeom prst="roundRect">
            <a:avLst>
              <a:gd name="adj" fmla="val 3125"/>
            </a:avLst>
          </a:prstGeom>
          <a:solidFill>
            <a:srgbClr val="F7F7F9"/>
          </a:solidFill>
          <a:ln/>
        </p:spPr>
      </p:sp>
      <p:sp>
        <p:nvSpPr>
          <p:cNvPr id="13" name="Shape 9"/>
          <p:cNvSpPr/>
          <p:nvPr/>
        </p:nvSpPr>
        <p:spPr>
          <a:xfrm>
            <a:off x="4526280" y="3337560"/>
            <a:ext cx="685800" cy="685800"/>
          </a:xfrm>
          <a:prstGeom prst="ellipse">
            <a:avLst/>
          </a:prstGeom>
          <a:solidFill>
            <a:srgbClr val="17233B"/>
          </a:solidFill>
          <a:ln/>
        </p:spPr>
      </p:sp>
      <p:pic>
        <p:nvPicPr>
          <p:cNvPr id="14" name="Image 2" descr="/home/claude/icons/search.png">    </p:cNvPr>
          <p:cNvPicPr>
            <a:picLocks noChangeAspect="1"/>
          </p:cNvPicPr>
          <p:nvPr/>
        </p:nvPicPr>
        <p:blipFill>
          <a:blip r:embed="rId3"/>
          <a:stretch>
            <a:fillRect/>
          </a:stretch>
        </p:blipFill>
        <p:spPr>
          <a:xfrm>
            <a:off x="4680585" y="3491865"/>
            <a:ext cx="377190" cy="377190"/>
          </a:xfrm>
          <a:prstGeom prst="rect">
            <a:avLst/>
          </a:prstGeom>
        </p:spPr>
      </p:pic>
      <p:sp>
        <p:nvSpPr>
          <p:cNvPr id="15" name="Text 10"/>
          <p:cNvSpPr/>
          <p:nvPr/>
        </p:nvSpPr>
        <p:spPr>
          <a:xfrm>
            <a:off x="4526280" y="4160520"/>
            <a:ext cx="2971800" cy="411480"/>
          </a:xfrm>
          <a:prstGeom prst="rect">
            <a:avLst/>
          </a:prstGeom>
          <a:noFill/>
          <a:ln/>
        </p:spPr>
        <p:txBody>
          <a:bodyPr wrap="square" rtlCol="0" anchor="ctr"/>
          <a:lstStyle/>
          <a:p>
            <a:pPr indent="0" marL="0">
              <a:buNone/>
            </a:pPr>
            <a:r>
              <a:rPr lang="en-US" sz="1600" b="1" dirty="0">
                <a:solidFill>
                  <a:srgbClr val="15171C"/>
                </a:solidFill>
                <a:latin typeface="Cambria" pitchFamily="34" charset="0"/>
                <a:ea typeface="Cambria" pitchFamily="34" charset="-122"/>
                <a:cs typeface="Cambria" pitchFamily="34" charset="-120"/>
              </a:rPr>
              <a:t>Repetitive filtering</a:t>
            </a:r>
            <a:endParaRPr lang="en-US" sz="1600" dirty="0"/>
          </a:p>
        </p:txBody>
      </p:sp>
      <p:sp>
        <p:nvSpPr>
          <p:cNvPr id="16" name="Text 11"/>
          <p:cNvSpPr/>
          <p:nvPr/>
        </p:nvSpPr>
        <p:spPr>
          <a:xfrm>
            <a:off x="4526280" y="4590288"/>
            <a:ext cx="2971800" cy="1280160"/>
          </a:xfrm>
          <a:prstGeom prst="rect">
            <a:avLst/>
          </a:prstGeom>
          <a:noFill/>
          <a:ln/>
        </p:spPr>
        <p:txBody>
          <a:bodyPr wrap="square" rtlCol="0" anchor="t"/>
          <a:lstStyle/>
          <a:p>
            <a:pPr indent="0" marL="0">
              <a:buNone/>
            </a:pPr>
            <a:r>
              <a:rPr lang="en-US" sz="1250" dirty="0">
                <a:solidFill>
                  <a:srgbClr val="6C7078"/>
                </a:solidFill>
                <a:latin typeface="Calibri" pitchFamily="34" charset="0"/>
                <a:ea typeface="Calibri" pitchFamily="34" charset="-122"/>
                <a:cs typeface="Calibri" pitchFamily="34" charset="-120"/>
              </a:rPr>
              <a:t>The same search and trail filters get re-entered on every single visit.</a:t>
            </a:r>
            <a:endParaRPr lang="en-US" sz="1250" dirty="0"/>
          </a:p>
        </p:txBody>
      </p:sp>
      <p:sp>
        <p:nvSpPr>
          <p:cNvPr id="17" name="Shape 12"/>
          <p:cNvSpPr/>
          <p:nvPr/>
        </p:nvSpPr>
        <p:spPr>
          <a:xfrm>
            <a:off x="7955280" y="3063240"/>
            <a:ext cx="3520440" cy="2926080"/>
          </a:xfrm>
          <a:prstGeom prst="roundRect">
            <a:avLst>
              <a:gd name="adj" fmla="val 3125"/>
            </a:avLst>
          </a:prstGeom>
          <a:solidFill>
            <a:srgbClr val="F7F7F9"/>
          </a:solidFill>
          <a:ln/>
        </p:spPr>
      </p:sp>
      <p:sp>
        <p:nvSpPr>
          <p:cNvPr id="18" name="Shape 13"/>
          <p:cNvSpPr/>
          <p:nvPr/>
        </p:nvSpPr>
        <p:spPr>
          <a:xfrm>
            <a:off x="8229600" y="3337560"/>
            <a:ext cx="685800" cy="685800"/>
          </a:xfrm>
          <a:prstGeom prst="ellipse">
            <a:avLst/>
          </a:prstGeom>
          <a:solidFill>
            <a:srgbClr val="17233B"/>
          </a:solidFill>
          <a:ln/>
        </p:spPr>
      </p:sp>
      <p:pic>
        <p:nvPicPr>
          <p:cNvPr id="19" name="Image 3" descr="/home/claude/icons/robot.png">    </p:cNvPr>
          <p:cNvPicPr>
            <a:picLocks noChangeAspect="1"/>
          </p:cNvPicPr>
          <p:nvPr/>
        </p:nvPicPr>
        <p:blipFill>
          <a:blip r:embed="rId4"/>
          <a:stretch>
            <a:fillRect/>
          </a:stretch>
        </p:blipFill>
        <p:spPr>
          <a:xfrm>
            <a:off x="8383905" y="3491865"/>
            <a:ext cx="377190" cy="377190"/>
          </a:xfrm>
          <a:prstGeom prst="rect">
            <a:avLst/>
          </a:prstGeom>
        </p:spPr>
      </p:pic>
      <p:sp>
        <p:nvSpPr>
          <p:cNvPr id="20" name="Text 14"/>
          <p:cNvSpPr/>
          <p:nvPr/>
        </p:nvSpPr>
        <p:spPr>
          <a:xfrm>
            <a:off x="8229600" y="4160520"/>
            <a:ext cx="2971800" cy="411480"/>
          </a:xfrm>
          <a:prstGeom prst="rect">
            <a:avLst/>
          </a:prstGeom>
          <a:noFill/>
          <a:ln/>
        </p:spPr>
        <p:txBody>
          <a:bodyPr wrap="square" rtlCol="0" anchor="ctr"/>
          <a:lstStyle/>
          <a:p>
            <a:pPr indent="0" marL="0">
              <a:buNone/>
            </a:pPr>
            <a:r>
              <a:rPr lang="en-US" sz="1600" b="1" dirty="0">
                <a:solidFill>
                  <a:srgbClr val="15171C"/>
                </a:solidFill>
                <a:latin typeface="Cambria" pitchFamily="34" charset="0"/>
                <a:ea typeface="Cambria" pitchFamily="34" charset="-122"/>
                <a:cs typeface="Cambria" pitchFamily="34" charset="-120"/>
              </a:rPr>
              <a:t>Generic suggestions</a:t>
            </a:r>
            <a:endParaRPr lang="en-US" sz="1600" dirty="0"/>
          </a:p>
        </p:txBody>
      </p:sp>
      <p:sp>
        <p:nvSpPr>
          <p:cNvPr id="21" name="Text 15"/>
          <p:cNvSpPr/>
          <p:nvPr/>
        </p:nvSpPr>
        <p:spPr>
          <a:xfrm>
            <a:off x="8229600" y="4590288"/>
            <a:ext cx="2971800" cy="1280160"/>
          </a:xfrm>
          <a:prstGeom prst="rect">
            <a:avLst/>
          </a:prstGeom>
          <a:noFill/>
          <a:ln/>
        </p:spPr>
        <p:txBody>
          <a:bodyPr wrap="square" rtlCol="0" anchor="t"/>
          <a:lstStyle/>
          <a:p>
            <a:pPr indent="0" marL="0">
              <a:buNone/>
            </a:pPr>
            <a:r>
              <a:rPr lang="en-US" sz="1250" dirty="0">
                <a:solidFill>
                  <a:srgbClr val="6C7078"/>
                </a:solidFill>
                <a:latin typeface="Calibri" pitchFamily="34" charset="0"/>
                <a:ea typeface="Calibri" pitchFamily="34" charset="-122"/>
                <a:cs typeface="Calibri" pitchFamily="34" charset="-120"/>
              </a:rPr>
              <a:t>Recommendations don't take a traveler's own budget, duration, or taste into account.</a:t>
            </a:r>
            <a:endParaRPr lang="en-US" sz="1250" dirty="0"/>
          </a:p>
        </p:txBody>
      </p:sp>
      <p:sp>
        <p:nvSpPr>
          <p:cNvPr id="22" name="Text 16"/>
          <p:cNvSpPr/>
          <p:nvPr/>
        </p:nvSpPr>
        <p:spPr>
          <a:xfrm>
            <a:off x="548640" y="6126480"/>
            <a:ext cx="11064240" cy="457200"/>
          </a:xfrm>
          <a:prstGeom prst="rect">
            <a:avLst/>
          </a:prstGeom>
          <a:noFill/>
          <a:ln/>
        </p:spPr>
        <p:txBody>
          <a:bodyPr wrap="square" rtlCol="0" anchor="ctr"/>
          <a:lstStyle/>
          <a:p>
            <a:pPr indent="0" marL="0">
              <a:buNone/>
            </a:pPr>
            <a:r>
              <a:rPr lang="en-US" sz="1350" i="1" dirty="0">
                <a:solidFill>
                  <a:srgbClr val="2E3F63"/>
                </a:solidFill>
                <a:latin typeface="Calibri" pitchFamily="34" charset="0"/>
                <a:ea typeface="Calibri" pitchFamily="34" charset="-122"/>
                <a:cs typeface="Calibri" pitchFamily="34" charset="-120"/>
              </a:rPr>
              <a:t>Meridian's answer: remember what a traveler cares about locally (via localStorage) and use that history to recommend what's worth looking at next.</a:t>
            </a:r>
            <a:endParaRPr lang="en-US" sz="1350" dirty="0"/>
          </a:p>
        </p:txBody>
      </p:sp>
      <p:sp>
        <p:nvSpPr>
          <p:cNvPr id="23" name="Text 17"/>
          <p:cNvSpPr/>
          <p:nvPr/>
        </p:nvSpPr>
        <p:spPr>
          <a:xfrm>
            <a:off x="457200" y="6510528"/>
            <a:ext cx="7315200" cy="274320"/>
          </a:xfrm>
          <a:prstGeom prst="rect">
            <a:avLst/>
          </a:prstGeom>
          <a:noFill/>
          <a:ln/>
        </p:spPr>
        <p:txBody>
          <a:bodyPr wrap="square" rtlCol="0" anchor="ctr"/>
          <a:lstStyle/>
          <a:p>
            <a:pPr indent="0" marL="0">
              <a:buNone/>
            </a:pPr>
            <a:r>
              <a:rPr lang="en-US" sz="900" i="1" dirty="0">
                <a:solidFill>
                  <a:srgbClr val="6C7078"/>
                </a:solidFill>
                <a:latin typeface="Calibri" pitchFamily="34" charset="0"/>
                <a:ea typeface="Calibri" pitchFamily="34" charset="-122"/>
                <a:cs typeface="Calibri" pitchFamily="34" charset="-120"/>
              </a:rPr>
              <a:t>MERIDIAN  ·  CODIORA HOUSE WEEK 8 FINAL PROJECT</a:t>
            </a:r>
            <a:endParaRPr lang="en-US" sz="900" dirty="0"/>
          </a:p>
        </p:txBody>
      </p:sp>
      <p:sp>
        <p:nvSpPr>
          <p:cNvPr id="24" name="Text 18"/>
          <p:cNvSpPr/>
          <p:nvPr/>
        </p:nvSpPr>
        <p:spPr>
          <a:xfrm>
            <a:off x="10332720" y="6510528"/>
            <a:ext cx="1371600" cy="274320"/>
          </a:xfrm>
          <a:prstGeom prst="rect">
            <a:avLst/>
          </a:prstGeom>
          <a:noFill/>
          <a:ln/>
        </p:spPr>
        <p:txBody>
          <a:bodyPr wrap="square" rtlCol="0" anchor="ctr"/>
          <a:lstStyle/>
          <a:p>
            <a:pPr algn="r" indent="0" marL="0">
              <a:buNone/>
            </a:pPr>
            <a:r>
              <a:rPr lang="en-US" sz="900" dirty="0">
                <a:solidFill>
                  <a:srgbClr val="6C707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300" b="1" spc="200" kern="0" dirty="0">
                <a:solidFill>
                  <a:srgbClr val="F0653E"/>
                </a:solidFill>
                <a:latin typeface="Calibri" pitchFamily="34" charset="0"/>
                <a:ea typeface="Calibri" pitchFamily="34" charset="-122"/>
                <a:cs typeface="Calibri" pitchFamily="34" charset="-120"/>
              </a:rPr>
              <a:t>03 · FEATURES</a:t>
            </a:r>
            <a:endParaRPr lang="en-US" sz="1300" dirty="0"/>
          </a:p>
        </p:txBody>
      </p:sp>
      <p:sp>
        <p:nvSpPr>
          <p:cNvPr id="3" name="Text 1"/>
          <p:cNvSpPr/>
          <p:nvPr/>
        </p:nvSpPr>
        <p:spPr>
          <a:xfrm>
            <a:off x="548640" y="749808"/>
            <a:ext cx="10607040" cy="731520"/>
          </a:xfrm>
          <a:prstGeom prst="rect">
            <a:avLst/>
          </a:prstGeom>
          <a:noFill/>
          <a:ln/>
        </p:spPr>
        <p:txBody>
          <a:bodyPr wrap="square" rtlCol="0" anchor="ctr"/>
          <a:lstStyle/>
          <a:p>
            <a:pPr indent="0" marL="0">
              <a:buNone/>
            </a:pPr>
            <a:r>
              <a:rPr lang="en-US" sz="3200" b="1" dirty="0">
                <a:solidFill>
                  <a:srgbClr val="15171C"/>
                </a:solidFill>
                <a:latin typeface="Cambria" pitchFamily="34" charset="0"/>
                <a:ea typeface="Cambria" pitchFamily="34" charset="-122"/>
                <a:cs typeface="Cambria" pitchFamily="34" charset="-120"/>
              </a:rPr>
              <a:t>Main features — discover &amp; plan</a:t>
            </a:r>
            <a:endParaRPr lang="en-US" sz="3200" dirty="0"/>
          </a:p>
        </p:txBody>
      </p:sp>
      <p:sp>
        <p:nvSpPr>
          <p:cNvPr id="4" name="Shape 2"/>
          <p:cNvSpPr/>
          <p:nvPr/>
        </p:nvSpPr>
        <p:spPr>
          <a:xfrm>
            <a:off x="548640" y="1783080"/>
            <a:ext cx="5257800" cy="1965960"/>
          </a:xfrm>
          <a:prstGeom prst="roundRect">
            <a:avLst>
              <a:gd name="adj" fmla="val 4651"/>
            </a:avLst>
          </a:prstGeom>
          <a:solidFill>
            <a:srgbClr val="F7F7F9"/>
          </a:solidFill>
          <a:ln/>
        </p:spPr>
      </p:sp>
      <p:sp>
        <p:nvSpPr>
          <p:cNvPr id="5" name="Shape 3"/>
          <p:cNvSpPr/>
          <p:nvPr/>
        </p:nvSpPr>
        <p:spPr>
          <a:xfrm>
            <a:off x="804672" y="2039112"/>
            <a:ext cx="658368" cy="658368"/>
          </a:xfrm>
          <a:prstGeom prst="ellipse">
            <a:avLst/>
          </a:prstGeom>
          <a:solidFill>
            <a:srgbClr val="17233B"/>
          </a:solidFill>
          <a:ln/>
        </p:spPr>
      </p:sp>
      <p:pic>
        <p:nvPicPr>
          <p:cNvPr id="6" name="Image 0" descr="/home/claude/icons/route.png">    </p:cNvPr>
          <p:cNvPicPr>
            <a:picLocks noChangeAspect="1"/>
          </p:cNvPicPr>
          <p:nvPr/>
        </p:nvPicPr>
        <p:blipFill>
          <a:blip r:embed="rId1"/>
          <a:stretch>
            <a:fillRect/>
          </a:stretch>
        </p:blipFill>
        <p:spPr>
          <a:xfrm>
            <a:off x="952805" y="2187245"/>
            <a:ext cx="362102" cy="362102"/>
          </a:xfrm>
          <a:prstGeom prst="rect">
            <a:avLst/>
          </a:prstGeom>
        </p:spPr>
      </p:pic>
      <p:sp>
        <p:nvSpPr>
          <p:cNvPr id="7" name="Text 4"/>
          <p:cNvSpPr/>
          <p:nvPr/>
        </p:nvSpPr>
        <p:spPr>
          <a:xfrm>
            <a:off x="1600200" y="1984248"/>
            <a:ext cx="3931920" cy="457200"/>
          </a:xfrm>
          <a:prstGeom prst="rect">
            <a:avLst/>
          </a:prstGeom>
          <a:noFill/>
          <a:ln/>
        </p:spPr>
        <p:txBody>
          <a:bodyPr wrap="square" rtlCol="0" anchor="ctr"/>
          <a:lstStyle/>
          <a:p>
            <a:pPr indent="0" marL="0">
              <a:buNone/>
            </a:pPr>
            <a:r>
              <a:rPr lang="en-US" sz="1550" b="1" dirty="0">
                <a:solidFill>
                  <a:srgbClr val="15171C"/>
                </a:solidFill>
                <a:latin typeface="Cambria" pitchFamily="34" charset="0"/>
                <a:ea typeface="Cambria" pitchFamily="34" charset="-122"/>
                <a:cs typeface="Cambria" pitchFamily="34" charset="-120"/>
              </a:rPr>
              <a:t>Home &amp; Explore</a:t>
            </a:r>
            <a:endParaRPr lang="en-US" sz="1550" dirty="0"/>
          </a:p>
        </p:txBody>
      </p:sp>
      <p:sp>
        <p:nvSpPr>
          <p:cNvPr id="8" name="Text 5"/>
          <p:cNvSpPr/>
          <p:nvPr/>
        </p:nvSpPr>
        <p:spPr>
          <a:xfrm>
            <a:off x="822960" y="2697480"/>
            <a:ext cx="4754880" cy="960120"/>
          </a:xfrm>
          <a:prstGeom prst="rect">
            <a:avLst/>
          </a:prstGeom>
          <a:noFill/>
          <a:ln/>
        </p:spPr>
        <p:txBody>
          <a:bodyPr wrap="square" rtlCol="0" anchor="t"/>
          <a:lstStyle/>
          <a:p>
            <a:pPr indent="0" marL="0">
              <a:buNone/>
            </a:pPr>
            <a:r>
              <a:rPr lang="en-US" sz="1200" dirty="0">
                <a:solidFill>
                  <a:srgbClr val="6C7078"/>
                </a:solidFill>
                <a:latin typeface="Calibri" pitchFamily="34" charset="0"/>
                <a:ea typeface="Calibri" pitchFamily="34" charset="-122"/>
                <a:cs typeface="Calibri" pitchFamily="34" charset="-120"/>
              </a:rPr>
              <a:t>Hero banner, quick search, featured carousel, trail filtering, and sort by rating or price.</a:t>
            </a:r>
            <a:endParaRPr lang="en-US" sz="1200" dirty="0"/>
          </a:p>
        </p:txBody>
      </p:sp>
      <p:sp>
        <p:nvSpPr>
          <p:cNvPr id="9" name="Shape 6"/>
          <p:cNvSpPr/>
          <p:nvPr/>
        </p:nvSpPr>
        <p:spPr>
          <a:xfrm>
            <a:off x="6172200" y="1783080"/>
            <a:ext cx="5257800" cy="1965960"/>
          </a:xfrm>
          <a:prstGeom prst="roundRect">
            <a:avLst>
              <a:gd name="adj" fmla="val 4651"/>
            </a:avLst>
          </a:prstGeom>
          <a:solidFill>
            <a:srgbClr val="F7F7F9"/>
          </a:solidFill>
          <a:ln/>
        </p:spPr>
      </p:sp>
      <p:sp>
        <p:nvSpPr>
          <p:cNvPr id="10" name="Shape 7"/>
          <p:cNvSpPr/>
          <p:nvPr/>
        </p:nvSpPr>
        <p:spPr>
          <a:xfrm>
            <a:off x="6428232" y="2039112"/>
            <a:ext cx="658368" cy="658368"/>
          </a:xfrm>
          <a:prstGeom prst="ellipse">
            <a:avLst/>
          </a:prstGeom>
          <a:solidFill>
            <a:srgbClr val="17233B"/>
          </a:solidFill>
          <a:ln/>
        </p:spPr>
      </p:sp>
      <p:pic>
        <p:nvPicPr>
          <p:cNvPr id="11" name="Image 1" descr="/home/claude/icons/star.png">    </p:cNvPr>
          <p:cNvPicPr>
            <a:picLocks noChangeAspect="1"/>
          </p:cNvPicPr>
          <p:nvPr/>
        </p:nvPicPr>
        <p:blipFill>
          <a:blip r:embed="rId2"/>
          <a:stretch>
            <a:fillRect/>
          </a:stretch>
        </p:blipFill>
        <p:spPr>
          <a:xfrm>
            <a:off x="6576365" y="2187245"/>
            <a:ext cx="362102" cy="362102"/>
          </a:xfrm>
          <a:prstGeom prst="rect">
            <a:avLst/>
          </a:prstGeom>
        </p:spPr>
      </p:pic>
      <p:sp>
        <p:nvSpPr>
          <p:cNvPr id="12" name="Text 8"/>
          <p:cNvSpPr/>
          <p:nvPr/>
        </p:nvSpPr>
        <p:spPr>
          <a:xfrm>
            <a:off x="7223760" y="1984248"/>
            <a:ext cx="3931920" cy="457200"/>
          </a:xfrm>
          <a:prstGeom prst="rect">
            <a:avLst/>
          </a:prstGeom>
          <a:noFill/>
          <a:ln/>
        </p:spPr>
        <p:txBody>
          <a:bodyPr wrap="square" rtlCol="0" anchor="ctr"/>
          <a:lstStyle/>
          <a:p>
            <a:pPr indent="0" marL="0">
              <a:buNone/>
            </a:pPr>
            <a:r>
              <a:rPr lang="en-US" sz="1550" b="1" dirty="0">
                <a:solidFill>
                  <a:srgbClr val="15171C"/>
                </a:solidFill>
                <a:latin typeface="Cambria" pitchFamily="34" charset="0"/>
                <a:ea typeface="Cambria" pitchFamily="34" charset="-122"/>
                <a:cs typeface="Cambria" pitchFamily="34" charset="-120"/>
              </a:rPr>
              <a:t>Destination details</a:t>
            </a:r>
            <a:endParaRPr lang="en-US" sz="1550" dirty="0"/>
          </a:p>
        </p:txBody>
      </p:sp>
      <p:sp>
        <p:nvSpPr>
          <p:cNvPr id="13" name="Text 9"/>
          <p:cNvSpPr/>
          <p:nvPr/>
        </p:nvSpPr>
        <p:spPr>
          <a:xfrm>
            <a:off x="6446520" y="2697480"/>
            <a:ext cx="4754880" cy="960120"/>
          </a:xfrm>
          <a:prstGeom prst="rect">
            <a:avLst/>
          </a:prstGeom>
          <a:noFill/>
          <a:ln/>
        </p:spPr>
        <p:txBody>
          <a:bodyPr wrap="square" rtlCol="0" anchor="t"/>
          <a:lstStyle/>
          <a:p>
            <a:pPr indent="0" marL="0">
              <a:buNone/>
            </a:pPr>
            <a:r>
              <a:rPr lang="en-US" sz="1200" dirty="0">
                <a:solidFill>
                  <a:srgbClr val="6C7078"/>
                </a:solidFill>
                <a:latin typeface="Calibri" pitchFamily="34" charset="0"/>
                <a:ea typeface="Calibri" pitchFamily="34" charset="-122"/>
                <a:cs typeface="Calibri" pitchFamily="34" charset="-120"/>
              </a:rPr>
              <a:t>Photo gallery, description, highlights, price, rating, and suggested trip duration.</a:t>
            </a:r>
            <a:endParaRPr lang="en-US" sz="1200" dirty="0"/>
          </a:p>
        </p:txBody>
      </p:sp>
      <p:sp>
        <p:nvSpPr>
          <p:cNvPr id="14" name="Shape 10"/>
          <p:cNvSpPr/>
          <p:nvPr/>
        </p:nvSpPr>
        <p:spPr>
          <a:xfrm>
            <a:off x="548640" y="4023360"/>
            <a:ext cx="5257800" cy="1965960"/>
          </a:xfrm>
          <a:prstGeom prst="roundRect">
            <a:avLst>
              <a:gd name="adj" fmla="val 4651"/>
            </a:avLst>
          </a:prstGeom>
          <a:solidFill>
            <a:srgbClr val="F7F7F9"/>
          </a:solidFill>
          <a:ln/>
        </p:spPr>
      </p:sp>
      <p:sp>
        <p:nvSpPr>
          <p:cNvPr id="15" name="Shape 11"/>
          <p:cNvSpPr/>
          <p:nvPr/>
        </p:nvSpPr>
        <p:spPr>
          <a:xfrm>
            <a:off x="804672" y="4279392"/>
            <a:ext cx="658368" cy="658368"/>
          </a:xfrm>
          <a:prstGeom prst="ellipse">
            <a:avLst/>
          </a:prstGeom>
          <a:solidFill>
            <a:srgbClr val="17233B"/>
          </a:solidFill>
          <a:ln/>
        </p:spPr>
      </p:sp>
      <p:pic>
        <p:nvPicPr>
          <p:cNvPr id="16" name="Image 2" descr="/home/claude/icons/suitcase.png">    </p:cNvPr>
          <p:cNvPicPr>
            <a:picLocks noChangeAspect="1"/>
          </p:cNvPicPr>
          <p:nvPr/>
        </p:nvPicPr>
        <p:blipFill>
          <a:blip r:embed="rId3"/>
          <a:stretch>
            <a:fillRect/>
          </a:stretch>
        </p:blipFill>
        <p:spPr>
          <a:xfrm>
            <a:off x="952805" y="4427525"/>
            <a:ext cx="362102" cy="362102"/>
          </a:xfrm>
          <a:prstGeom prst="rect">
            <a:avLst/>
          </a:prstGeom>
        </p:spPr>
      </p:pic>
      <p:sp>
        <p:nvSpPr>
          <p:cNvPr id="17" name="Text 12"/>
          <p:cNvSpPr/>
          <p:nvPr/>
        </p:nvSpPr>
        <p:spPr>
          <a:xfrm>
            <a:off x="1600200" y="4224528"/>
            <a:ext cx="3931920" cy="457200"/>
          </a:xfrm>
          <a:prstGeom prst="rect">
            <a:avLst/>
          </a:prstGeom>
          <a:noFill/>
          <a:ln/>
        </p:spPr>
        <p:txBody>
          <a:bodyPr wrap="square" rtlCol="0" anchor="ctr"/>
          <a:lstStyle/>
          <a:p>
            <a:pPr indent="0" marL="0">
              <a:buNone/>
            </a:pPr>
            <a:r>
              <a:rPr lang="en-US" sz="1550" b="1" dirty="0">
                <a:solidFill>
                  <a:srgbClr val="15171C"/>
                </a:solidFill>
                <a:latin typeface="Cambria" pitchFamily="34" charset="0"/>
                <a:ea typeface="Cambria" pitchFamily="34" charset="-122"/>
                <a:cs typeface="Cambria" pitchFamily="34" charset="-120"/>
              </a:rPr>
              <a:t>Trip planner</a:t>
            </a:r>
            <a:endParaRPr lang="en-US" sz="1550" dirty="0"/>
          </a:p>
        </p:txBody>
      </p:sp>
      <p:sp>
        <p:nvSpPr>
          <p:cNvPr id="18" name="Text 13"/>
          <p:cNvSpPr/>
          <p:nvPr/>
        </p:nvSpPr>
        <p:spPr>
          <a:xfrm>
            <a:off x="822960" y="4937760"/>
            <a:ext cx="4754880" cy="960120"/>
          </a:xfrm>
          <a:prstGeom prst="rect">
            <a:avLst/>
          </a:prstGeom>
          <a:noFill/>
          <a:ln/>
        </p:spPr>
        <p:txBody>
          <a:bodyPr wrap="square" rtlCol="0" anchor="t"/>
          <a:lstStyle/>
          <a:p>
            <a:pPr indent="0" marL="0">
              <a:buNone/>
            </a:pPr>
            <a:r>
              <a:rPr lang="en-US" sz="1200" dirty="0">
                <a:solidFill>
                  <a:srgbClr val="6C7078"/>
                </a:solidFill>
                <a:latin typeface="Calibri" pitchFamily="34" charset="0"/>
                <a:ea typeface="Calibri" pitchFamily="34" charset="-122"/>
                <a:cs typeface="Calibri" pitchFamily="34" charset="-120"/>
              </a:rPr>
              <a:t>Build a multi-day itinerary and add activities to each day.</a:t>
            </a:r>
            <a:endParaRPr lang="en-US" sz="1200" dirty="0"/>
          </a:p>
        </p:txBody>
      </p:sp>
      <p:sp>
        <p:nvSpPr>
          <p:cNvPr id="19" name="Shape 14"/>
          <p:cNvSpPr/>
          <p:nvPr/>
        </p:nvSpPr>
        <p:spPr>
          <a:xfrm>
            <a:off x="6172200" y="4023360"/>
            <a:ext cx="5257800" cy="1965960"/>
          </a:xfrm>
          <a:prstGeom prst="roundRect">
            <a:avLst>
              <a:gd name="adj" fmla="val 4651"/>
            </a:avLst>
          </a:prstGeom>
          <a:solidFill>
            <a:srgbClr val="F7F7F9"/>
          </a:solidFill>
          <a:ln/>
        </p:spPr>
      </p:sp>
      <p:sp>
        <p:nvSpPr>
          <p:cNvPr id="20" name="Shape 15"/>
          <p:cNvSpPr/>
          <p:nvPr/>
        </p:nvSpPr>
        <p:spPr>
          <a:xfrm>
            <a:off x="6428232" y="4279392"/>
            <a:ext cx="658368" cy="658368"/>
          </a:xfrm>
          <a:prstGeom prst="ellipse">
            <a:avLst/>
          </a:prstGeom>
          <a:solidFill>
            <a:srgbClr val="17233B"/>
          </a:solidFill>
          <a:ln/>
        </p:spPr>
      </p:sp>
      <p:pic>
        <p:nvPicPr>
          <p:cNvPr id="21" name="Image 3" descr="/home/claude/icons/robot.png">    </p:cNvPr>
          <p:cNvPicPr>
            <a:picLocks noChangeAspect="1"/>
          </p:cNvPicPr>
          <p:nvPr/>
        </p:nvPicPr>
        <p:blipFill>
          <a:blip r:embed="rId4"/>
          <a:stretch>
            <a:fillRect/>
          </a:stretch>
        </p:blipFill>
        <p:spPr>
          <a:xfrm>
            <a:off x="6576365" y="4427525"/>
            <a:ext cx="362102" cy="362102"/>
          </a:xfrm>
          <a:prstGeom prst="rect">
            <a:avLst/>
          </a:prstGeom>
        </p:spPr>
      </p:pic>
      <p:sp>
        <p:nvSpPr>
          <p:cNvPr id="22" name="Text 16"/>
          <p:cNvSpPr/>
          <p:nvPr/>
        </p:nvSpPr>
        <p:spPr>
          <a:xfrm>
            <a:off x="7223760" y="4224528"/>
            <a:ext cx="3931920" cy="457200"/>
          </a:xfrm>
          <a:prstGeom prst="rect">
            <a:avLst/>
          </a:prstGeom>
          <a:noFill/>
          <a:ln/>
        </p:spPr>
        <p:txBody>
          <a:bodyPr wrap="square" rtlCol="0" anchor="ctr"/>
          <a:lstStyle/>
          <a:p>
            <a:pPr indent="0" marL="0">
              <a:buNone/>
            </a:pPr>
            <a:r>
              <a:rPr lang="en-US" sz="1550" b="1" dirty="0">
                <a:solidFill>
                  <a:srgbClr val="15171C"/>
                </a:solidFill>
                <a:latin typeface="Cambria" pitchFamily="34" charset="0"/>
                <a:ea typeface="Cambria" pitchFamily="34" charset="-122"/>
                <a:cs typeface="Cambria" pitchFamily="34" charset="-120"/>
              </a:rPr>
              <a:t>Smart travel assistant</a:t>
            </a:r>
            <a:endParaRPr lang="en-US" sz="1550" dirty="0"/>
          </a:p>
        </p:txBody>
      </p:sp>
      <p:sp>
        <p:nvSpPr>
          <p:cNvPr id="23" name="Text 17"/>
          <p:cNvSpPr/>
          <p:nvPr/>
        </p:nvSpPr>
        <p:spPr>
          <a:xfrm>
            <a:off x="6446520" y="4937760"/>
            <a:ext cx="4754880" cy="960120"/>
          </a:xfrm>
          <a:prstGeom prst="rect">
            <a:avLst/>
          </a:prstGeom>
          <a:noFill/>
          <a:ln/>
        </p:spPr>
        <p:txBody>
          <a:bodyPr wrap="square" rtlCol="0" anchor="t"/>
          <a:lstStyle/>
          <a:p>
            <a:pPr indent="0" marL="0">
              <a:buNone/>
            </a:pPr>
            <a:r>
              <a:rPr lang="en-US" sz="1200" dirty="0">
                <a:solidFill>
                  <a:srgbClr val="6C7078"/>
                </a:solidFill>
                <a:latin typeface="Calibri" pitchFamily="34" charset="0"/>
                <a:ea typeface="Calibri" pitchFamily="34" charset="-122"/>
                <a:cs typeface="Calibri" pitchFamily="34" charset="-120"/>
              </a:rPr>
              <a:t>Recommends destinations from budget, duration, and preferred environment.</a:t>
            </a:r>
            <a:endParaRPr lang="en-US" sz="1200" dirty="0"/>
          </a:p>
        </p:txBody>
      </p:sp>
      <p:sp>
        <p:nvSpPr>
          <p:cNvPr id="24" name="Text 18"/>
          <p:cNvSpPr/>
          <p:nvPr/>
        </p:nvSpPr>
        <p:spPr>
          <a:xfrm>
            <a:off x="457200" y="6510528"/>
            <a:ext cx="7315200" cy="274320"/>
          </a:xfrm>
          <a:prstGeom prst="rect">
            <a:avLst/>
          </a:prstGeom>
          <a:noFill/>
          <a:ln/>
        </p:spPr>
        <p:txBody>
          <a:bodyPr wrap="square" rtlCol="0" anchor="ctr"/>
          <a:lstStyle/>
          <a:p>
            <a:pPr indent="0" marL="0">
              <a:buNone/>
            </a:pPr>
            <a:r>
              <a:rPr lang="en-US" sz="900" i="1" dirty="0">
                <a:solidFill>
                  <a:srgbClr val="6C7078"/>
                </a:solidFill>
                <a:latin typeface="Calibri" pitchFamily="34" charset="0"/>
                <a:ea typeface="Calibri" pitchFamily="34" charset="-122"/>
                <a:cs typeface="Calibri" pitchFamily="34" charset="-120"/>
              </a:rPr>
              <a:t>MERIDIAN  ·  CODIORA HOUSE WEEK 8 FINAL PROJECT</a:t>
            </a:r>
            <a:endParaRPr lang="en-US" sz="900" dirty="0"/>
          </a:p>
        </p:txBody>
      </p:sp>
      <p:sp>
        <p:nvSpPr>
          <p:cNvPr id="25" name="Text 19"/>
          <p:cNvSpPr/>
          <p:nvPr/>
        </p:nvSpPr>
        <p:spPr>
          <a:xfrm>
            <a:off x="10332720" y="6510528"/>
            <a:ext cx="1371600" cy="274320"/>
          </a:xfrm>
          <a:prstGeom prst="rect">
            <a:avLst/>
          </a:prstGeom>
          <a:noFill/>
          <a:ln/>
        </p:spPr>
        <p:txBody>
          <a:bodyPr wrap="square" rtlCol="0" anchor="ctr"/>
          <a:lstStyle/>
          <a:p>
            <a:pPr algn="r" indent="0" marL="0">
              <a:buNone/>
            </a:pPr>
            <a:r>
              <a:rPr lang="en-US" sz="900" dirty="0">
                <a:solidFill>
                  <a:srgbClr val="6C707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300" b="1" spc="200" kern="0" dirty="0">
                <a:solidFill>
                  <a:srgbClr val="F0653E"/>
                </a:solidFill>
                <a:latin typeface="Calibri" pitchFamily="34" charset="0"/>
                <a:ea typeface="Calibri" pitchFamily="34" charset="-122"/>
                <a:cs typeface="Calibri" pitchFamily="34" charset="-120"/>
              </a:rPr>
              <a:t>03 · FEATURES</a:t>
            </a:r>
            <a:endParaRPr lang="en-US" sz="1300" dirty="0"/>
          </a:p>
        </p:txBody>
      </p:sp>
      <p:sp>
        <p:nvSpPr>
          <p:cNvPr id="3" name="Text 1"/>
          <p:cNvSpPr/>
          <p:nvPr/>
        </p:nvSpPr>
        <p:spPr>
          <a:xfrm>
            <a:off x="548640" y="749808"/>
            <a:ext cx="10607040" cy="731520"/>
          </a:xfrm>
          <a:prstGeom prst="rect">
            <a:avLst/>
          </a:prstGeom>
          <a:noFill/>
          <a:ln/>
        </p:spPr>
        <p:txBody>
          <a:bodyPr wrap="square" rtlCol="0" anchor="ctr"/>
          <a:lstStyle/>
          <a:p>
            <a:pPr indent="0" marL="0">
              <a:buNone/>
            </a:pPr>
            <a:r>
              <a:rPr lang="en-US" sz="3200" b="1" dirty="0">
                <a:solidFill>
                  <a:srgbClr val="15171C"/>
                </a:solidFill>
                <a:latin typeface="Cambria" pitchFamily="34" charset="0"/>
                <a:ea typeface="Cambria" pitchFamily="34" charset="-122"/>
                <a:cs typeface="Cambria" pitchFamily="34" charset="-120"/>
              </a:rPr>
              <a:t>Main features — trust, personalize &amp; polish</a:t>
            </a:r>
            <a:endParaRPr lang="en-US" sz="3200" dirty="0"/>
          </a:p>
        </p:txBody>
      </p:sp>
      <p:sp>
        <p:nvSpPr>
          <p:cNvPr id="4" name="Shape 2"/>
          <p:cNvSpPr/>
          <p:nvPr/>
        </p:nvSpPr>
        <p:spPr>
          <a:xfrm>
            <a:off x="548640" y="1783080"/>
            <a:ext cx="5257800" cy="1965960"/>
          </a:xfrm>
          <a:prstGeom prst="roundRect">
            <a:avLst>
              <a:gd name="adj" fmla="val 4651"/>
            </a:avLst>
          </a:prstGeom>
          <a:solidFill>
            <a:srgbClr val="F7F7F9"/>
          </a:solidFill>
          <a:ln/>
        </p:spPr>
      </p:sp>
      <p:sp>
        <p:nvSpPr>
          <p:cNvPr id="5" name="Shape 3"/>
          <p:cNvSpPr/>
          <p:nvPr/>
        </p:nvSpPr>
        <p:spPr>
          <a:xfrm>
            <a:off x="804672" y="2039112"/>
            <a:ext cx="658368" cy="658368"/>
          </a:xfrm>
          <a:prstGeom prst="ellipse">
            <a:avLst/>
          </a:prstGeom>
          <a:solidFill>
            <a:srgbClr val="17233B"/>
          </a:solidFill>
          <a:ln/>
        </p:spPr>
      </p:sp>
      <p:pic>
        <p:nvPicPr>
          <p:cNvPr id="6" name="Image 0" descr="/home/claude/icons/star.png">    </p:cNvPr>
          <p:cNvPicPr>
            <a:picLocks noChangeAspect="1"/>
          </p:cNvPicPr>
          <p:nvPr/>
        </p:nvPicPr>
        <p:blipFill>
          <a:blip r:embed="rId1"/>
          <a:stretch>
            <a:fillRect/>
          </a:stretch>
        </p:blipFill>
        <p:spPr>
          <a:xfrm>
            <a:off x="952805" y="2187245"/>
            <a:ext cx="362102" cy="362102"/>
          </a:xfrm>
          <a:prstGeom prst="rect">
            <a:avLst/>
          </a:prstGeom>
        </p:spPr>
      </p:pic>
      <p:sp>
        <p:nvSpPr>
          <p:cNvPr id="7" name="Text 4"/>
          <p:cNvSpPr/>
          <p:nvPr/>
        </p:nvSpPr>
        <p:spPr>
          <a:xfrm>
            <a:off x="1600200" y="1984248"/>
            <a:ext cx="3931920" cy="457200"/>
          </a:xfrm>
          <a:prstGeom prst="rect">
            <a:avLst/>
          </a:prstGeom>
          <a:noFill/>
          <a:ln/>
        </p:spPr>
        <p:txBody>
          <a:bodyPr wrap="square" rtlCol="0" anchor="ctr"/>
          <a:lstStyle/>
          <a:p>
            <a:pPr indent="0" marL="0">
              <a:buNone/>
            </a:pPr>
            <a:r>
              <a:rPr lang="en-US" sz="1550" b="1" dirty="0">
                <a:solidFill>
                  <a:srgbClr val="15171C"/>
                </a:solidFill>
                <a:latin typeface="Cambria" pitchFamily="34" charset="0"/>
                <a:ea typeface="Cambria" pitchFamily="34" charset="-122"/>
                <a:cs typeface="Cambria" pitchFamily="34" charset="-120"/>
              </a:rPr>
              <a:t>Reviews &amp; ratings</a:t>
            </a:r>
            <a:endParaRPr lang="en-US" sz="1550" dirty="0"/>
          </a:p>
        </p:txBody>
      </p:sp>
      <p:sp>
        <p:nvSpPr>
          <p:cNvPr id="8" name="Text 5"/>
          <p:cNvSpPr/>
          <p:nvPr/>
        </p:nvSpPr>
        <p:spPr>
          <a:xfrm>
            <a:off x="822960" y="2697480"/>
            <a:ext cx="4754880" cy="960120"/>
          </a:xfrm>
          <a:prstGeom prst="rect">
            <a:avLst/>
          </a:prstGeom>
          <a:noFill/>
          <a:ln/>
        </p:spPr>
        <p:txBody>
          <a:bodyPr wrap="square" rtlCol="0" anchor="t"/>
          <a:lstStyle/>
          <a:p>
            <a:pPr indent="0" marL="0">
              <a:buNone/>
            </a:pPr>
            <a:r>
              <a:rPr lang="en-US" sz="1200" dirty="0">
                <a:solidFill>
                  <a:srgbClr val="6C7078"/>
                </a:solidFill>
                <a:latin typeface="Calibri" pitchFamily="34" charset="0"/>
                <a:ea typeface="Calibri" pitchFamily="34" charset="-122"/>
                <a:cs typeface="Calibri" pitchFamily="34" charset="-120"/>
              </a:rPr>
              <a:t>Rating breakdown, star-rating filter, and a write-a-review form with a star picker.</a:t>
            </a:r>
            <a:endParaRPr lang="en-US" sz="1200" dirty="0"/>
          </a:p>
        </p:txBody>
      </p:sp>
      <p:sp>
        <p:nvSpPr>
          <p:cNvPr id="9" name="Shape 6"/>
          <p:cNvSpPr/>
          <p:nvPr/>
        </p:nvSpPr>
        <p:spPr>
          <a:xfrm>
            <a:off x="6172200" y="1783080"/>
            <a:ext cx="5257800" cy="1965960"/>
          </a:xfrm>
          <a:prstGeom prst="roundRect">
            <a:avLst>
              <a:gd name="adj" fmla="val 4651"/>
            </a:avLst>
          </a:prstGeom>
          <a:solidFill>
            <a:srgbClr val="F7F7F9"/>
          </a:solidFill>
          <a:ln/>
        </p:spPr>
      </p:sp>
      <p:sp>
        <p:nvSpPr>
          <p:cNvPr id="10" name="Shape 7"/>
          <p:cNvSpPr/>
          <p:nvPr/>
        </p:nvSpPr>
        <p:spPr>
          <a:xfrm>
            <a:off x="6428232" y="2039112"/>
            <a:ext cx="658368" cy="658368"/>
          </a:xfrm>
          <a:prstGeom prst="ellipse">
            <a:avLst/>
          </a:prstGeom>
          <a:solidFill>
            <a:srgbClr val="17233B"/>
          </a:solidFill>
          <a:ln/>
        </p:spPr>
      </p:sp>
      <p:pic>
        <p:nvPicPr>
          <p:cNvPr id="11" name="Image 1" descr="/home/claude/icons/chart.png">    </p:cNvPr>
          <p:cNvPicPr>
            <a:picLocks noChangeAspect="1"/>
          </p:cNvPicPr>
          <p:nvPr/>
        </p:nvPicPr>
        <p:blipFill>
          <a:blip r:embed="rId2"/>
          <a:stretch>
            <a:fillRect/>
          </a:stretch>
        </p:blipFill>
        <p:spPr>
          <a:xfrm>
            <a:off x="6576365" y="2187245"/>
            <a:ext cx="362102" cy="362102"/>
          </a:xfrm>
          <a:prstGeom prst="rect">
            <a:avLst/>
          </a:prstGeom>
        </p:spPr>
      </p:pic>
      <p:sp>
        <p:nvSpPr>
          <p:cNvPr id="12" name="Text 8"/>
          <p:cNvSpPr/>
          <p:nvPr/>
        </p:nvSpPr>
        <p:spPr>
          <a:xfrm>
            <a:off x="7223760" y="1984248"/>
            <a:ext cx="3931920" cy="457200"/>
          </a:xfrm>
          <a:prstGeom prst="rect">
            <a:avLst/>
          </a:prstGeom>
          <a:noFill/>
          <a:ln/>
        </p:spPr>
        <p:txBody>
          <a:bodyPr wrap="square" rtlCol="0" anchor="ctr"/>
          <a:lstStyle/>
          <a:p>
            <a:pPr indent="0" marL="0">
              <a:buNone/>
            </a:pPr>
            <a:r>
              <a:rPr lang="en-US" sz="1550" b="1" dirty="0">
                <a:solidFill>
                  <a:srgbClr val="15171C"/>
                </a:solidFill>
                <a:latin typeface="Cambria" pitchFamily="34" charset="0"/>
                <a:ea typeface="Cambria" pitchFamily="34" charset="-122"/>
                <a:cs typeface="Cambria" pitchFamily="34" charset="-120"/>
              </a:rPr>
              <a:t>User dashboard</a:t>
            </a:r>
            <a:endParaRPr lang="en-US" sz="1550" dirty="0"/>
          </a:p>
        </p:txBody>
      </p:sp>
      <p:sp>
        <p:nvSpPr>
          <p:cNvPr id="13" name="Text 9"/>
          <p:cNvSpPr/>
          <p:nvPr/>
        </p:nvSpPr>
        <p:spPr>
          <a:xfrm>
            <a:off x="6446520" y="2697480"/>
            <a:ext cx="4754880" cy="960120"/>
          </a:xfrm>
          <a:prstGeom prst="rect">
            <a:avLst/>
          </a:prstGeom>
          <a:noFill/>
          <a:ln/>
        </p:spPr>
        <p:txBody>
          <a:bodyPr wrap="square" rtlCol="0" anchor="t"/>
          <a:lstStyle/>
          <a:p>
            <a:pPr indent="0" marL="0">
              <a:buNone/>
            </a:pPr>
            <a:r>
              <a:rPr lang="en-US" sz="1200" dirty="0">
                <a:solidFill>
                  <a:srgbClr val="6C7078"/>
                </a:solidFill>
                <a:latin typeface="Calibri" pitchFamily="34" charset="0"/>
                <a:ea typeface="Calibri" pitchFamily="34" charset="-122"/>
                <a:cs typeface="Calibri" pitchFamily="34" charset="-120"/>
              </a:rPr>
              <a:t>Favorites, recently viewed places, and personalized suggestions after login.</a:t>
            </a:r>
            <a:endParaRPr lang="en-US" sz="1200" dirty="0"/>
          </a:p>
        </p:txBody>
      </p:sp>
      <p:sp>
        <p:nvSpPr>
          <p:cNvPr id="14" name="Shape 10"/>
          <p:cNvSpPr/>
          <p:nvPr/>
        </p:nvSpPr>
        <p:spPr>
          <a:xfrm>
            <a:off x="548640" y="4023360"/>
            <a:ext cx="5257800" cy="1965960"/>
          </a:xfrm>
          <a:prstGeom prst="roundRect">
            <a:avLst>
              <a:gd name="adj" fmla="val 4651"/>
            </a:avLst>
          </a:prstGeom>
          <a:solidFill>
            <a:srgbClr val="F7F7F9"/>
          </a:solidFill>
          <a:ln/>
        </p:spPr>
      </p:sp>
      <p:sp>
        <p:nvSpPr>
          <p:cNvPr id="15" name="Shape 11"/>
          <p:cNvSpPr/>
          <p:nvPr/>
        </p:nvSpPr>
        <p:spPr>
          <a:xfrm>
            <a:off x="804672" y="4279392"/>
            <a:ext cx="658368" cy="658368"/>
          </a:xfrm>
          <a:prstGeom prst="ellipse">
            <a:avLst/>
          </a:prstGeom>
          <a:solidFill>
            <a:srgbClr val="17233B"/>
          </a:solidFill>
          <a:ln/>
        </p:spPr>
      </p:sp>
      <p:pic>
        <p:nvPicPr>
          <p:cNvPr id="16" name="Image 2" descr="/home/claude/icons/moon.png">    </p:cNvPr>
          <p:cNvPicPr>
            <a:picLocks noChangeAspect="1"/>
          </p:cNvPicPr>
          <p:nvPr/>
        </p:nvPicPr>
        <p:blipFill>
          <a:blip r:embed="rId3"/>
          <a:stretch>
            <a:fillRect/>
          </a:stretch>
        </p:blipFill>
        <p:spPr>
          <a:xfrm>
            <a:off x="952805" y="4427525"/>
            <a:ext cx="362102" cy="362102"/>
          </a:xfrm>
          <a:prstGeom prst="rect">
            <a:avLst/>
          </a:prstGeom>
        </p:spPr>
      </p:pic>
      <p:sp>
        <p:nvSpPr>
          <p:cNvPr id="17" name="Text 12"/>
          <p:cNvSpPr/>
          <p:nvPr/>
        </p:nvSpPr>
        <p:spPr>
          <a:xfrm>
            <a:off x="1600200" y="4224528"/>
            <a:ext cx="3931920" cy="457200"/>
          </a:xfrm>
          <a:prstGeom prst="rect">
            <a:avLst/>
          </a:prstGeom>
          <a:noFill/>
          <a:ln/>
        </p:spPr>
        <p:txBody>
          <a:bodyPr wrap="square" rtlCol="0" anchor="ctr"/>
          <a:lstStyle/>
          <a:p>
            <a:pPr indent="0" marL="0">
              <a:buNone/>
            </a:pPr>
            <a:r>
              <a:rPr lang="en-US" sz="1550" b="1" dirty="0">
                <a:solidFill>
                  <a:srgbClr val="15171C"/>
                </a:solidFill>
                <a:latin typeface="Cambria" pitchFamily="34" charset="0"/>
                <a:ea typeface="Cambria" pitchFamily="34" charset="-122"/>
                <a:cs typeface="Cambria" pitchFamily="34" charset="-120"/>
              </a:rPr>
              <a:t>Light / dark theme</a:t>
            </a:r>
            <a:endParaRPr lang="en-US" sz="1550" dirty="0"/>
          </a:p>
        </p:txBody>
      </p:sp>
      <p:sp>
        <p:nvSpPr>
          <p:cNvPr id="18" name="Text 13"/>
          <p:cNvSpPr/>
          <p:nvPr/>
        </p:nvSpPr>
        <p:spPr>
          <a:xfrm>
            <a:off x="822960" y="4937760"/>
            <a:ext cx="4754880" cy="960120"/>
          </a:xfrm>
          <a:prstGeom prst="rect">
            <a:avLst/>
          </a:prstGeom>
          <a:noFill/>
          <a:ln/>
        </p:spPr>
        <p:txBody>
          <a:bodyPr wrap="square" rtlCol="0" anchor="t"/>
          <a:lstStyle/>
          <a:p>
            <a:pPr indent="0" marL="0">
              <a:buNone/>
            </a:pPr>
            <a:r>
              <a:rPr lang="en-US" sz="1200" dirty="0">
                <a:solidFill>
                  <a:srgbClr val="6C7078"/>
                </a:solidFill>
                <a:latin typeface="Calibri" pitchFamily="34" charset="0"/>
                <a:ea typeface="Calibri" pitchFamily="34" charset="-122"/>
                <a:cs typeface="Calibri" pitchFamily="34" charset="-120"/>
              </a:rPr>
              <a:t>One-tap toggle, remembered automatically with localStorage.</a:t>
            </a:r>
            <a:endParaRPr lang="en-US" sz="1200" dirty="0"/>
          </a:p>
        </p:txBody>
      </p:sp>
      <p:sp>
        <p:nvSpPr>
          <p:cNvPr id="19" name="Shape 14"/>
          <p:cNvSpPr/>
          <p:nvPr/>
        </p:nvSpPr>
        <p:spPr>
          <a:xfrm>
            <a:off x="6172200" y="4023360"/>
            <a:ext cx="5257800" cy="1965960"/>
          </a:xfrm>
          <a:prstGeom prst="roundRect">
            <a:avLst>
              <a:gd name="adj" fmla="val 4651"/>
            </a:avLst>
          </a:prstGeom>
          <a:solidFill>
            <a:srgbClr val="F7F7F9"/>
          </a:solidFill>
          <a:ln/>
        </p:spPr>
      </p:sp>
      <p:sp>
        <p:nvSpPr>
          <p:cNvPr id="20" name="Shape 15"/>
          <p:cNvSpPr/>
          <p:nvPr/>
        </p:nvSpPr>
        <p:spPr>
          <a:xfrm>
            <a:off x="6428232" y="4279392"/>
            <a:ext cx="658368" cy="658368"/>
          </a:xfrm>
          <a:prstGeom prst="ellipse">
            <a:avLst/>
          </a:prstGeom>
          <a:solidFill>
            <a:srgbClr val="17233B"/>
          </a:solidFill>
          <a:ln/>
        </p:spPr>
      </p:sp>
      <p:pic>
        <p:nvPicPr>
          <p:cNvPr id="21" name="Image 3" descr="/home/claude/icons/universal.png">    </p:cNvPr>
          <p:cNvPicPr>
            <a:picLocks noChangeAspect="1"/>
          </p:cNvPicPr>
          <p:nvPr/>
        </p:nvPicPr>
        <p:blipFill>
          <a:blip r:embed="rId4"/>
          <a:stretch>
            <a:fillRect/>
          </a:stretch>
        </p:blipFill>
        <p:spPr>
          <a:xfrm>
            <a:off x="6576365" y="4427525"/>
            <a:ext cx="362102" cy="362102"/>
          </a:xfrm>
          <a:prstGeom prst="rect">
            <a:avLst/>
          </a:prstGeom>
        </p:spPr>
      </p:pic>
      <p:sp>
        <p:nvSpPr>
          <p:cNvPr id="22" name="Text 16"/>
          <p:cNvSpPr/>
          <p:nvPr/>
        </p:nvSpPr>
        <p:spPr>
          <a:xfrm>
            <a:off x="7223760" y="4224528"/>
            <a:ext cx="3931920" cy="457200"/>
          </a:xfrm>
          <a:prstGeom prst="rect">
            <a:avLst/>
          </a:prstGeom>
          <a:noFill/>
          <a:ln/>
        </p:spPr>
        <p:txBody>
          <a:bodyPr wrap="square" rtlCol="0" anchor="ctr"/>
          <a:lstStyle/>
          <a:p>
            <a:pPr indent="0" marL="0">
              <a:buNone/>
            </a:pPr>
            <a:r>
              <a:rPr lang="en-US" sz="1550" b="1" dirty="0">
                <a:solidFill>
                  <a:srgbClr val="15171C"/>
                </a:solidFill>
                <a:latin typeface="Cambria" pitchFamily="34" charset="0"/>
                <a:ea typeface="Cambria" pitchFamily="34" charset="-122"/>
                <a:cs typeface="Cambria" pitchFamily="34" charset="-120"/>
              </a:rPr>
              <a:t>Responsive &amp; accessible</a:t>
            </a:r>
            <a:endParaRPr lang="en-US" sz="1550" dirty="0"/>
          </a:p>
        </p:txBody>
      </p:sp>
      <p:sp>
        <p:nvSpPr>
          <p:cNvPr id="23" name="Text 17"/>
          <p:cNvSpPr/>
          <p:nvPr/>
        </p:nvSpPr>
        <p:spPr>
          <a:xfrm>
            <a:off x="6446520" y="4937760"/>
            <a:ext cx="4754880" cy="960120"/>
          </a:xfrm>
          <a:prstGeom prst="rect">
            <a:avLst/>
          </a:prstGeom>
          <a:noFill/>
          <a:ln/>
        </p:spPr>
        <p:txBody>
          <a:bodyPr wrap="square" rtlCol="0" anchor="t"/>
          <a:lstStyle/>
          <a:p>
            <a:pPr indent="0" marL="0">
              <a:buNone/>
            </a:pPr>
            <a:r>
              <a:rPr lang="en-US" sz="1200" dirty="0">
                <a:solidFill>
                  <a:srgbClr val="6C7078"/>
                </a:solidFill>
                <a:latin typeface="Calibri" pitchFamily="34" charset="0"/>
                <a:ea typeface="Calibri" pitchFamily="34" charset="-122"/>
                <a:cs typeface="Calibri" pitchFamily="34" charset="-120"/>
              </a:rPr>
              <a:t>Mobile-to-desktop breakpoints, skip-to-content link, visible focus states, aria-live regions.</a:t>
            </a:r>
            <a:endParaRPr lang="en-US" sz="1200" dirty="0"/>
          </a:p>
        </p:txBody>
      </p:sp>
      <p:sp>
        <p:nvSpPr>
          <p:cNvPr id="24" name="Text 18"/>
          <p:cNvSpPr/>
          <p:nvPr/>
        </p:nvSpPr>
        <p:spPr>
          <a:xfrm>
            <a:off x="457200" y="6510528"/>
            <a:ext cx="7315200" cy="274320"/>
          </a:xfrm>
          <a:prstGeom prst="rect">
            <a:avLst/>
          </a:prstGeom>
          <a:noFill/>
          <a:ln/>
        </p:spPr>
        <p:txBody>
          <a:bodyPr wrap="square" rtlCol="0" anchor="ctr"/>
          <a:lstStyle/>
          <a:p>
            <a:pPr indent="0" marL="0">
              <a:buNone/>
            </a:pPr>
            <a:r>
              <a:rPr lang="en-US" sz="900" i="1" dirty="0">
                <a:solidFill>
                  <a:srgbClr val="6C7078"/>
                </a:solidFill>
                <a:latin typeface="Calibri" pitchFamily="34" charset="0"/>
                <a:ea typeface="Calibri" pitchFamily="34" charset="-122"/>
                <a:cs typeface="Calibri" pitchFamily="34" charset="-120"/>
              </a:rPr>
              <a:t>MERIDIAN  ·  CODIORA HOUSE WEEK 8 FINAL PROJECT</a:t>
            </a:r>
            <a:endParaRPr lang="en-US" sz="900" dirty="0"/>
          </a:p>
        </p:txBody>
      </p:sp>
      <p:sp>
        <p:nvSpPr>
          <p:cNvPr id="25" name="Text 19"/>
          <p:cNvSpPr/>
          <p:nvPr/>
        </p:nvSpPr>
        <p:spPr>
          <a:xfrm>
            <a:off x="10332720" y="6510528"/>
            <a:ext cx="1371600" cy="274320"/>
          </a:xfrm>
          <a:prstGeom prst="rect">
            <a:avLst/>
          </a:prstGeom>
          <a:noFill/>
          <a:ln/>
        </p:spPr>
        <p:txBody>
          <a:bodyPr wrap="square" rtlCol="0" anchor="ctr"/>
          <a:lstStyle/>
          <a:p>
            <a:pPr algn="r" indent="0" marL="0">
              <a:buNone/>
            </a:pPr>
            <a:r>
              <a:rPr lang="en-US" sz="900" dirty="0">
                <a:solidFill>
                  <a:srgbClr val="6C707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300" b="1" spc="200" kern="0" dirty="0">
                <a:solidFill>
                  <a:srgbClr val="F0653E"/>
                </a:solidFill>
                <a:latin typeface="Calibri" pitchFamily="34" charset="0"/>
                <a:ea typeface="Calibri" pitchFamily="34" charset="-122"/>
                <a:cs typeface="Calibri" pitchFamily="34" charset="-120"/>
              </a:rPr>
              <a:t>04 · FINAL RESULT</a:t>
            </a:r>
            <a:endParaRPr lang="en-US" sz="1300" dirty="0"/>
          </a:p>
        </p:txBody>
      </p:sp>
      <p:sp>
        <p:nvSpPr>
          <p:cNvPr id="3" name="Text 1"/>
          <p:cNvSpPr/>
          <p:nvPr/>
        </p:nvSpPr>
        <p:spPr>
          <a:xfrm>
            <a:off x="548640" y="749808"/>
            <a:ext cx="10607040" cy="731520"/>
          </a:xfrm>
          <a:prstGeom prst="rect">
            <a:avLst/>
          </a:prstGeom>
          <a:noFill/>
          <a:ln/>
        </p:spPr>
        <p:txBody>
          <a:bodyPr wrap="square" rtlCol="0" anchor="ctr"/>
          <a:lstStyle/>
          <a:p>
            <a:pPr indent="0" marL="0">
              <a:buNone/>
            </a:pPr>
            <a:r>
              <a:rPr lang="en-US" sz="3200" b="1" dirty="0">
                <a:solidFill>
                  <a:srgbClr val="15171C"/>
                </a:solidFill>
                <a:latin typeface="Cambria" pitchFamily="34" charset="0"/>
                <a:ea typeface="Cambria" pitchFamily="34" charset="-122"/>
                <a:cs typeface="Cambria" pitchFamily="34" charset="-120"/>
              </a:rPr>
              <a:t>What shipped in Week 8</a:t>
            </a:r>
            <a:endParaRPr lang="en-US" sz="3200" dirty="0"/>
          </a:p>
        </p:txBody>
      </p:sp>
      <p:sp>
        <p:nvSpPr>
          <p:cNvPr id="4" name="Text 2"/>
          <p:cNvSpPr/>
          <p:nvPr/>
        </p:nvSpPr>
        <p:spPr>
          <a:xfrm>
            <a:off x="548640" y="1600200"/>
            <a:ext cx="11064240" cy="502920"/>
          </a:xfrm>
          <a:prstGeom prst="rect">
            <a:avLst/>
          </a:prstGeom>
          <a:noFill/>
          <a:ln/>
        </p:spPr>
        <p:txBody>
          <a:bodyPr wrap="square" rtlCol="0" anchor="ctr"/>
          <a:lstStyle/>
          <a:p>
            <a:pPr indent="0" marL="0">
              <a:buNone/>
            </a:pPr>
            <a:r>
              <a:rPr lang="en-US" sz="1500" dirty="0">
                <a:solidFill>
                  <a:srgbClr val="15171C"/>
                </a:solidFill>
                <a:latin typeface="Calibri" pitchFamily="34" charset="0"/>
                <a:ea typeface="Calibri" pitchFamily="34" charset="-122"/>
                <a:cs typeface="Calibri" pitchFamily="34" charset="-120"/>
              </a:rPr>
              <a:t>A complete, responsive Travel &amp; Tourism Experience Platform that reads as one finished product — not a stack of weekly tasks.</a:t>
            </a:r>
            <a:endParaRPr lang="en-US" sz="1500" dirty="0"/>
          </a:p>
        </p:txBody>
      </p:sp>
      <p:sp>
        <p:nvSpPr>
          <p:cNvPr id="5" name="Shape 3"/>
          <p:cNvSpPr/>
          <p:nvPr/>
        </p:nvSpPr>
        <p:spPr>
          <a:xfrm>
            <a:off x="548640" y="2331720"/>
            <a:ext cx="2697480" cy="1600200"/>
          </a:xfrm>
          <a:prstGeom prst="roundRect">
            <a:avLst>
              <a:gd name="adj" fmla="val 5714"/>
            </a:avLst>
          </a:prstGeom>
          <a:solidFill>
            <a:srgbClr val="17233B"/>
          </a:solidFill>
          <a:ln/>
        </p:spPr>
      </p:sp>
      <p:sp>
        <p:nvSpPr>
          <p:cNvPr id="6" name="Text 4"/>
          <p:cNvSpPr/>
          <p:nvPr/>
        </p:nvSpPr>
        <p:spPr>
          <a:xfrm>
            <a:off x="548640" y="2450592"/>
            <a:ext cx="2697480" cy="777240"/>
          </a:xfrm>
          <a:prstGeom prst="rect">
            <a:avLst/>
          </a:prstGeom>
          <a:noFill/>
          <a:ln/>
        </p:spPr>
        <p:txBody>
          <a:bodyPr wrap="square"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12</a:t>
            </a:r>
            <a:endParaRPr lang="en-US" sz="3800" dirty="0"/>
          </a:p>
        </p:txBody>
      </p:sp>
      <p:sp>
        <p:nvSpPr>
          <p:cNvPr id="7" name="Text 5"/>
          <p:cNvSpPr/>
          <p:nvPr/>
        </p:nvSpPr>
        <p:spPr>
          <a:xfrm>
            <a:off x="731520" y="3246120"/>
            <a:ext cx="2331720" cy="594360"/>
          </a:xfrm>
          <a:prstGeom prst="rect">
            <a:avLst/>
          </a:prstGeom>
          <a:noFill/>
          <a:ln/>
        </p:spPr>
        <p:txBody>
          <a:bodyPr wrap="square" rtlCol="0" anchor="t"/>
          <a:lstStyle/>
          <a:p>
            <a:pPr algn="ctr" indent="0" marL="0">
              <a:buNone/>
            </a:pPr>
            <a:r>
              <a:rPr lang="en-US" sz="1100" dirty="0">
                <a:solidFill>
                  <a:srgbClr val="CADCFC"/>
                </a:solidFill>
                <a:latin typeface="Calibri" pitchFamily="34" charset="0"/>
                <a:ea typeface="Calibri" pitchFamily="34" charset="-122"/>
                <a:cs typeface="Calibri" pitchFamily="34" charset="-120"/>
              </a:rPr>
              <a:t>destinations with full detail pages</a:t>
            </a:r>
            <a:endParaRPr lang="en-US" sz="1100" dirty="0"/>
          </a:p>
        </p:txBody>
      </p:sp>
      <p:sp>
        <p:nvSpPr>
          <p:cNvPr id="8" name="Shape 6"/>
          <p:cNvSpPr/>
          <p:nvPr/>
        </p:nvSpPr>
        <p:spPr>
          <a:xfrm>
            <a:off x="3429000" y="2331720"/>
            <a:ext cx="2697480" cy="1600200"/>
          </a:xfrm>
          <a:prstGeom prst="roundRect">
            <a:avLst>
              <a:gd name="adj" fmla="val 5714"/>
            </a:avLst>
          </a:prstGeom>
          <a:solidFill>
            <a:srgbClr val="17233B"/>
          </a:solidFill>
          <a:ln/>
        </p:spPr>
      </p:sp>
      <p:sp>
        <p:nvSpPr>
          <p:cNvPr id="9" name="Text 7"/>
          <p:cNvSpPr/>
          <p:nvPr/>
        </p:nvSpPr>
        <p:spPr>
          <a:xfrm>
            <a:off x="3429000" y="2450592"/>
            <a:ext cx="2697480" cy="777240"/>
          </a:xfrm>
          <a:prstGeom prst="rect">
            <a:avLst/>
          </a:prstGeom>
          <a:noFill/>
          <a:ln/>
        </p:spPr>
        <p:txBody>
          <a:bodyPr wrap="square"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8</a:t>
            </a:r>
            <a:endParaRPr lang="en-US" sz="3800" dirty="0"/>
          </a:p>
        </p:txBody>
      </p:sp>
      <p:sp>
        <p:nvSpPr>
          <p:cNvPr id="10" name="Text 8"/>
          <p:cNvSpPr/>
          <p:nvPr/>
        </p:nvSpPr>
        <p:spPr>
          <a:xfrm>
            <a:off x="3611880" y="3246120"/>
            <a:ext cx="2331720" cy="594360"/>
          </a:xfrm>
          <a:prstGeom prst="rect">
            <a:avLst/>
          </a:prstGeom>
          <a:noFill/>
          <a:ln/>
        </p:spPr>
        <p:txBody>
          <a:bodyPr wrap="square" rtlCol="0" anchor="t"/>
          <a:lstStyle/>
          <a:p>
            <a:pPr algn="ctr" indent="0" marL="0">
              <a:buNone/>
            </a:pPr>
            <a:r>
              <a:rPr lang="en-US" sz="1100" dirty="0">
                <a:solidFill>
                  <a:srgbClr val="CADCFC"/>
                </a:solidFill>
                <a:latin typeface="Calibri" pitchFamily="34" charset="0"/>
                <a:ea typeface="Calibri" pitchFamily="34" charset="-122"/>
                <a:cs typeface="Calibri" pitchFamily="34" charset="-120"/>
              </a:rPr>
              <a:t>weeks of features combined, none rewritten</a:t>
            </a:r>
            <a:endParaRPr lang="en-US" sz="1100" dirty="0"/>
          </a:p>
        </p:txBody>
      </p:sp>
      <p:sp>
        <p:nvSpPr>
          <p:cNvPr id="11" name="Shape 9"/>
          <p:cNvSpPr/>
          <p:nvPr/>
        </p:nvSpPr>
        <p:spPr>
          <a:xfrm>
            <a:off x="6309360" y="2331720"/>
            <a:ext cx="2697480" cy="1600200"/>
          </a:xfrm>
          <a:prstGeom prst="roundRect">
            <a:avLst>
              <a:gd name="adj" fmla="val 5714"/>
            </a:avLst>
          </a:prstGeom>
          <a:solidFill>
            <a:srgbClr val="17233B"/>
          </a:solidFill>
          <a:ln/>
        </p:spPr>
      </p:sp>
      <p:sp>
        <p:nvSpPr>
          <p:cNvPr id="12" name="Text 10"/>
          <p:cNvSpPr/>
          <p:nvPr/>
        </p:nvSpPr>
        <p:spPr>
          <a:xfrm>
            <a:off x="6309360" y="2450592"/>
            <a:ext cx="2697480" cy="777240"/>
          </a:xfrm>
          <a:prstGeom prst="rect">
            <a:avLst/>
          </a:prstGeom>
          <a:noFill/>
          <a:ln/>
        </p:spPr>
        <p:txBody>
          <a:bodyPr wrap="square"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0</a:t>
            </a:r>
            <a:endParaRPr lang="en-US" sz="3800" dirty="0"/>
          </a:p>
        </p:txBody>
      </p:sp>
      <p:sp>
        <p:nvSpPr>
          <p:cNvPr id="13" name="Text 11"/>
          <p:cNvSpPr/>
          <p:nvPr/>
        </p:nvSpPr>
        <p:spPr>
          <a:xfrm>
            <a:off x="6492240" y="3246120"/>
            <a:ext cx="2331720" cy="594360"/>
          </a:xfrm>
          <a:prstGeom prst="rect">
            <a:avLst/>
          </a:prstGeom>
          <a:noFill/>
          <a:ln/>
        </p:spPr>
        <p:txBody>
          <a:bodyPr wrap="square" rtlCol="0" anchor="t"/>
          <a:lstStyle/>
          <a:p>
            <a:pPr algn="ctr" indent="0" marL="0">
              <a:buNone/>
            </a:pPr>
            <a:r>
              <a:rPr lang="en-US" sz="1100" dirty="0">
                <a:solidFill>
                  <a:srgbClr val="CADCFC"/>
                </a:solidFill>
                <a:latin typeface="Calibri" pitchFamily="34" charset="0"/>
                <a:ea typeface="Calibri" pitchFamily="34" charset="-122"/>
                <a:cs typeface="Calibri" pitchFamily="34" charset="-120"/>
              </a:rPr>
              <a:t>duplicate IDs or unbalanced tags at final QA</a:t>
            </a:r>
            <a:endParaRPr lang="en-US" sz="1100" dirty="0"/>
          </a:p>
        </p:txBody>
      </p:sp>
      <p:sp>
        <p:nvSpPr>
          <p:cNvPr id="14" name="Shape 12"/>
          <p:cNvSpPr/>
          <p:nvPr/>
        </p:nvSpPr>
        <p:spPr>
          <a:xfrm>
            <a:off x="9189720" y="2331720"/>
            <a:ext cx="2697480" cy="1600200"/>
          </a:xfrm>
          <a:prstGeom prst="roundRect">
            <a:avLst>
              <a:gd name="adj" fmla="val 5714"/>
            </a:avLst>
          </a:prstGeom>
          <a:solidFill>
            <a:srgbClr val="17233B"/>
          </a:solidFill>
          <a:ln/>
        </p:spPr>
      </p:sp>
      <p:sp>
        <p:nvSpPr>
          <p:cNvPr id="15" name="Text 13"/>
          <p:cNvSpPr/>
          <p:nvPr/>
        </p:nvSpPr>
        <p:spPr>
          <a:xfrm>
            <a:off x="9189720" y="2450592"/>
            <a:ext cx="2697480" cy="777240"/>
          </a:xfrm>
          <a:prstGeom prst="rect">
            <a:avLst/>
          </a:prstGeom>
          <a:noFill/>
          <a:ln/>
        </p:spPr>
        <p:txBody>
          <a:bodyPr wrap="square"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2</a:t>
            </a:r>
            <a:endParaRPr lang="en-US" sz="3800" dirty="0"/>
          </a:p>
        </p:txBody>
      </p:sp>
      <p:sp>
        <p:nvSpPr>
          <p:cNvPr id="16" name="Text 14"/>
          <p:cNvSpPr/>
          <p:nvPr/>
        </p:nvSpPr>
        <p:spPr>
          <a:xfrm>
            <a:off x="9372600" y="3246120"/>
            <a:ext cx="2331720" cy="594360"/>
          </a:xfrm>
          <a:prstGeom prst="rect">
            <a:avLst/>
          </a:prstGeom>
          <a:noFill/>
          <a:ln/>
        </p:spPr>
        <p:txBody>
          <a:bodyPr wrap="square" rtlCol="0" anchor="t"/>
          <a:lstStyle/>
          <a:p>
            <a:pPr algn="ctr" indent="0" marL="0">
              <a:buNone/>
            </a:pPr>
            <a:r>
              <a:rPr lang="en-US" sz="1100" dirty="0">
                <a:solidFill>
                  <a:srgbClr val="CADCFC"/>
                </a:solidFill>
                <a:latin typeface="Calibri" pitchFamily="34" charset="0"/>
                <a:ea typeface="Calibri" pitchFamily="34" charset="-122"/>
                <a:cs typeface="Calibri" pitchFamily="34" charset="-120"/>
              </a:rPr>
              <a:t>themes — light &amp; dark, fully audited for contrast</a:t>
            </a:r>
            <a:endParaRPr lang="en-US" sz="1100" dirty="0"/>
          </a:p>
        </p:txBody>
      </p:sp>
      <p:sp>
        <p:nvSpPr>
          <p:cNvPr id="17" name="Text 15"/>
          <p:cNvSpPr/>
          <p:nvPr/>
        </p:nvSpPr>
        <p:spPr>
          <a:xfrm>
            <a:off x="548640" y="4343400"/>
            <a:ext cx="2743200" cy="365760"/>
          </a:xfrm>
          <a:prstGeom prst="rect">
            <a:avLst/>
          </a:prstGeom>
          <a:noFill/>
          <a:ln/>
        </p:spPr>
        <p:txBody>
          <a:bodyPr wrap="square" rtlCol="0" anchor="ctr"/>
          <a:lstStyle/>
          <a:p>
            <a:pPr indent="0" marL="0">
              <a:buNone/>
            </a:pPr>
            <a:r>
              <a:rPr lang="en-US" sz="1400" b="1" dirty="0">
                <a:solidFill>
                  <a:srgbClr val="15171C"/>
                </a:solidFill>
                <a:latin typeface="Cambria" pitchFamily="34" charset="0"/>
                <a:ea typeface="Cambria" pitchFamily="34" charset="-122"/>
                <a:cs typeface="Cambria" pitchFamily="34" charset="-120"/>
              </a:rPr>
              <a:t>Delivered as:</a:t>
            </a:r>
            <a:endParaRPr lang="en-US" sz="1400" dirty="0"/>
          </a:p>
        </p:txBody>
      </p:sp>
      <p:sp>
        <p:nvSpPr>
          <p:cNvPr id="18" name="Text 16"/>
          <p:cNvSpPr/>
          <p:nvPr/>
        </p:nvSpPr>
        <p:spPr>
          <a:xfrm>
            <a:off x="685800" y="4754880"/>
            <a:ext cx="5943600" cy="1554480"/>
          </a:xfrm>
          <a:prstGeom prst="rect">
            <a:avLst/>
          </a:prstGeom>
          <a:noFill/>
          <a:ln/>
        </p:spPr>
        <p:txBody>
          <a:bodyPr wrap="square" rtlCol="0" anchor="t"/>
          <a:lstStyle/>
          <a:p>
            <a:pPr marL="342900" indent="-342900">
              <a:spcAft>
                <a:spcPts val="600"/>
              </a:spcAft>
              <a:buSzPct val="100000"/>
              <a:buChar char="•"/>
            </a:pPr>
            <a:r>
              <a:rPr lang="en-US" sz="1350" dirty="0">
                <a:solidFill>
                  <a:srgbClr val="15171C"/>
                </a:solidFill>
                <a:latin typeface="Calibri" pitchFamily="34" charset="0"/>
                <a:ea typeface="Calibri" pitchFamily="34" charset="-122"/>
                <a:cs typeface="Calibri" pitchFamily="34" charset="-120"/>
              </a:rPr>
              <a:t>Source code (single HTML file)</a:t>
            </a:r>
            <a:endParaRPr lang="en-US" sz="1350" dirty="0"/>
          </a:p>
          <a:p>
            <a:pPr marL="342900" indent="-342900">
              <a:spcAft>
                <a:spcPts val="600"/>
              </a:spcAft>
              <a:buSzPct val="100000"/>
              <a:buChar char="•"/>
            </a:pPr>
            <a:r>
              <a:rPr lang="en-US" sz="1350" dirty="0">
                <a:solidFill>
                  <a:srgbClr val="15171C"/>
                </a:solidFill>
                <a:latin typeface="Calibri" pitchFamily="34" charset="0"/>
                <a:ea typeface="Calibri" pitchFamily="34" charset="-122"/>
                <a:cs typeface="Calibri" pitchFamily="34" charset="-120"/>
              </a:rPr>
              <a:t>GitHub repository</a:t>
            </a:r>
            <a:endParaRPr lang="en-US" sz="1350" dirty="0"/>
          </a:p>
          <a:p>
            <a:pPr marL="342900" indent="-342900">
              <a:spcAft>
                <a:spcPts val="600"/>
              </a:spcAft>
              <a:buSzPct val="100000"/>
              <a:buChar char="•"/>
            </a:pPr>
            <a:r>
              <a:rPr lang="en-US" sz="1350" dirty="0">
                <a:solidFill>
                  <a:srgbClr val="15171C"/>
                </a:solidFill>
                <a:latin typeface="Calibri" pitchFamily="34" charset="0"/>
                <a:ea typeface="Calibri" pitchFamily="34" charset="-122"/>
                <a:cs typeface="Calibri" pitchFamily="34" charset="-120"/>
              </a:rPr>
              <a:t>Short project README</a:t>
            </a:r>
            <a:endParaRPr lang="en-US" sz="1350" dirty="0"/>
          </a:p>
          <a:p>
            <a:pPr marL="342900" indent="-342900">
              <a:spcAft>
                <a:spcPts val="600"/>
              </a:spcAft>
              <a:buSzPct val="100000"/>
              <a:buChar char="•"/>
            </a:pPr>
            <a:r>
              <a:rPr lang="en-US" sz="1350" dirty="0">
                <a:solidFill>
                  <a:srgbClr val="15171C"/>
                </a:solidFill>
                <a:latin typeface="Calibri" pitchFamily="34" charset="0"/>
                <a:ea typeface="Calibri" pitchFamily="34" charset="-122"/>
                <a:cs typeface="Calibri" pitchFamily="34" charset="-120"/>
              </a:rPr>
              <a:t>Live-in-browser demo — no install needed</a:t>
            </a:r>
            <a:endParaRPr lang="en-US" sz="1350" dirty="0"/>
          </a:p>
        </p:txBody>
      </p:sp>
      <p:sp>
        <p:nvSpPr>
          <p:cNvPr id="19" name="Shape 17"/>
          <p:cNvSpPr/>
          <p:nvPr/>
        </p:nvSpPr>
        <p:spPr>
          <a:xfrm>
            <a:off x="9052560" y="4526280"/>
            <a:ext cx="1828800" cy="1828800"/>
          </a:xfrm>
          <a:prstGeom prst="ellipse">
            <a:avLst/>
          </a:prstGeom>
          <a:solidFill>
            <a:srgbClr val="F7F7F9"/>
          </a:solidFill>
          <a:ln/>
        </p:spPr>
      </p:sp>
      <p:pic>
        <p:nvPicPr>
          <p:cNvPr id="20" name="Image 0" descr="/home/claude/icons/trophy.png">    </p:cNvPr>
          <p:cNvPicPr>
            <a:picLocks noChangeAspect="1"/>
          </p:cNvPicPr>
          <p:nvPr/>
        </p:nvPicPr>
        <p:blipFill>
          <a:blip r:embed="rId1"/>
          <a:stretch>
            <a:fillRect/>
          </a:stretch>
        </p:blipFill>
        <p:spPr>
          <a:xfrm>
            <a:off x="9418320" y="4892040"/>
            <a:ext cx="1097280" cy="1097280"/>
          </a:xfrm>
          <a:prstGeom prst="rect">
            <a:avLst/>
          </a:prstGeom>
        </p:spPr>
      </p:pic>
      <p:sp>
        <p:nvSpPr>
          <p:cNvPr id="21" name="Text 18"/>
          <p:cNvSpPr/>
          <p:nvPr/>
        </p:nvSpPr>
        <p:spPr>
          <a:xfrm>
            <a:off x="457200" y="6510528"/>
            <a:ext cx="7315200" cy="274320"/>
          </a:xfrm>
          <a:prstGeom prst="rect">
            <a:avLst/>
          </a:prstGeom>
          <a:noFill/>
          <a:ln/>
        </p:spPr>
        <p:txBody>
          <a:bodyPr wrap="square" rtlCol="0" anchor="ctr"/>
          <a:lstStyle/>
          <a:p>
            <a:pPr indent="0" marL="0">
              <a:buNone/>
            </a:pPr>
            <a:r>
              <a:rPr lang="en-US" sz="900" i="1" dirty="0">
                <a:solidFill>
                  <a:srgbClr val="6C7078"/>
                </a:solidFill>
                <a:latin typeface="Calibri" pitchFamily="34" charset="0"/>
                <a:ea typeface="Calibri" pitchFamily="34" charset="-122"/>
                <a:cs typeface="Calibri" pitchFamily="34" charset="-120"/>
              </a:rPr>
              <a:t>MERIDIAN  ·  CODIORA HOUSE WEEK 8 FINAL PROJECT</a:t>
            </a:r>
            <a:endParaRPr lang="en-US" sz="900" dirty="0"/>
          </a:p>
        </p:txBody>
      </p:sp>
      <p:sp>
        <p:nvSpPr>
          <p:cNvPr id="22" name="Text 19"/>
          <p:cNvSpPr/>
          <p:nvPr/>
        </p:nvSpPr>
        <p:spPr>
          <a:xfrm>
            <a:off x="10332720" y="6510528"/>
            <a:ext cx="1371600" cy="274320"/>
          </a:xfrm>
          <a:prstGeom prst="rect">
            <a:avLst/>
          </a:prstGeom>
          <a:noFill/>
          <a:ln/>
        </p:spPr>
        <p:txBody>
          <a:bodyPr wrap="square" rtlCol="0" anchor="ctr"/>
          <a:lstStyle/>
          <a:p>
            <a:pPr algn="r" indent="0" marL="0">
              <a:buNone/>
            </a:pPr>
            <a:r>
              <a:rPr lang="en-US" sz="900" dirty="0">
                <a:solidFill>
                  <a:srgbClr val="6C707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300" b="1" spc="200" kern="0" dirty="0">
                <a:solidFill>
                  <a:srgbClr val="E3A23C"/>
                </a:solidFill>
                <a:latin typeface="Calibri" pitchFamily="34" charset="0"/>
                <a:ea typeface="Calibri" pitchFamily="34" charset="-122"/>
                <a:cs typeface="Calibri" pitchFamily="34" charset="-120"/>
              </a:rPr>
              <a:t>05 · TOOLS USED</a:t>
            </a:r>
            <a:endParaRPr lang="en-US" sz="1300" dirty="0"/>
          </a:p>
        </p:txBody>
      </p:sp>
      <p:sp>
        <p:nvSpPr>
          <p:cNvPr id="3" name="Text 1"/>
          <p:cNvSpPr/>
          <p:nvPr/>
        </p:nvSpPr>
        <p:spPr>
          <a:xfrm>
            <a:off x="548640" y="749808"/>
            <a:ext cx="10607040" cy="731520"/>
          </a:xfrm>
          <a:prstGeom prst="rect">
            <a:avLst/>
          </a:prstGeom>
          <a:noFill/>
          <a:ln/>
        </p:spPr>
        <p:txBody>
          <a:bodyPr wrap="square" rtlCol="0" anchor="ctr"/>
          <a:lstStyle/>
          <a:p>
            <a:pPr indent="0" marL="0">
              <a:buNone/>
            </a:pPr>
            <a:r>
              <a:rPr lang="en-US" sz="3200" b="1" dirty="0">
                <a:solidFill>
                  <a:srgbClr val="15171C"/>
                </a:solidFill>
                <a:latin typeface="Cambria" pitchFamily="34" charset="0"/>
                <a:ea typeface="Cambria" pitchFamily="34" charset="-122"/>
                <a:cs typeface="Cambria" pitchFamily="34" charset="-120"/>
              </a:rPr>
              <a:t>Tech stack</a:t>
            </a:r>
            <a:endParaRPr lang="en-US" sz="3200" dirty="0"/>
          </a:p>
        </p:txBody>
      </p:sp>
      <p:sp>
        <p:nvSpPr>
          <p:cNvPr id="4" name="Shape 2"/>
          <p:cNvSpPr/>
          <p:nvPr/>
        </p:nvSpPr>
        <p:spPr>
          <a:xfrm>
            <a:off x="548640" y="1783080"/>
            <a:ext cx="2560320" cy="2103120"/>
          </a:xfrm>
          <a:prstGeom prst="roundRect">
            <a:avLst>
              <a:gd name="adj" fmla="val 4348"/>
            </a:avLst>
          </a:prstGeom>
          <a:solidFill>
            <a:srgbClr val="F7F7F9"/>
          </a:solidFill>
          <a:ln/>
        </p:spPr>
      </p:sp>
      <p:sp>
        <p:nvSpPr>
          <p:cNvPr id="5" name="Shape 3"/>
          <p:cNvSpPr/>
          <p:nvPr/>
        </p:nvSpPr>
        <p:spPr>
          <a:xfrm>
            <a:off x="1499616" y="2039112"/>
            <a:ext cx="658368" cy="658368"/>
          </a:xfrm>
          <a:prstGeom prst="ellipse">
            <a:avLst/>
          </a:prstGeom>
          <a:solidFill>
            <a:srgbClr val="17233B"/>
          </a:solidFill>
          <a:ln/>
        </p:spPr>
      </p:sp>
      <p:pic>
        <p:nvPicPr>
          <p:cNvPr id="6" name="Image 0" descr="/home/claude/icons/code.png">    </p:cNvPr>
          <p:cNvPicPr>
            <a:picLocks noChangeAspect="1"/>
          </p:cNvPicPr>
          <p:nvPr/>
        </p:nvPicPr>
        <p:blipFill>
          <a:blip r:embed="rId1"/>
          <a:stretch>
            <a:fillRect/>
          </a:stretch>
        </p:blipFill>
        <p:spPr>
          <a:xfrm>
            <a:off x="1647749" y="2187245"/>
            <a:ext cx="362102" cy="362102"/>
          </a:xfrm>
          <a:prstGeom prst="rect">
            <a:avLst/>
          </a:prstGeom>
        </p:spPr>
      </p:pic>
      <p:sp>
        <p:nvSpPr>
          <p:cNvPr id="7" name="Text 4"/>
          <p:cNvSpPr/>
          <p:nvPr/>
        </p:nvSpPr>
        <p:spPr>
          <a:xfrm>
            <a:off x="685800" y="2788920"/>
            <a:ext cx="2286000" cy="365760"/>
          </a:xfrm>
          <a:prstGeom prst="rect">
            <a:avLst/>
          </a:prstGeom>
          <a:noFill/>
          <a:ln/>
        </p:spPr>
        <p:txBody>
          <a:bodyPr wrap="square" rtlCol="0" anchor="ctr"/>
          <a:lstStyle/>
          <a:p>
            <a:pPr algn="ctr" indent="0" marL="0">
              <a:buNone/>
            </a:pPr>
            <a:r>
              <a:rPr lang="en-US" sz="1400" b="1" dirty="0">
                <a:solidFill>
                  <a:srgbClr val="15171C"/>
                </a:solidFill>
                <a:latin typeface="Cambria" pitchFamily="34" charset="0"/>
                <a:ea typeface="Cambria" pitchFamily="34" charset="-122"/>
                <a:cs typeface="Cambria" pitchFamily="34" charset="-120"/>
              </a:rPr>
              <a:t>HTML5</a:t>
            </a:r>
            <a:endParaRPr lang="en-US" sz="1400" dirty="0"/>
          </a:p>
        </p:txBody>
      </p:sp>
      <p:sp>
        <p:nvSpPr>
          <p:cNvPr id="8" name="Text 5"/>
          <p:cNvSpPr/>
          <p:nvPr/>
        </p:nvSpPr>
        <p:spPr>
          <a:xfrm>
            <a:off x="685800" y="3154680"/>
            <a:ext cx="2286000" cy="640080"/>
          </a:xfrm>
          <a:prstGeom prst="rect">
            <a:avLst/>
          </a:prstGeom>
          <a:noFill/>
          <a:ln/>
        </p:spPr>
        <p:txBody>
          <a:bodyPr wrap="square" rtlCol="0" anchor="t"/>
          <a:lstStyle/>
          <a:p>
            <a:pPr algn="ctr" indent="0" marL="0">
              <a:buNone/>
            </a:pPr>
            <a:r>
              <a:rPr lang="en-US" sz="1000" dirty="0">
                <a:solidFill>
                  <a:srgbClr val="6C7078"/>
                </a:solidFill>
                <a:latin typeface="Calibri" pitchFamily="34" charset="0"/>
                <a:ea typeface="Calibri" pitchFamily="34" charset="-122"/>
                <a:cs typeface="Calibri" pitchFamily="34" charset="-120"/>
              </a:rPr>
              <a:t>Semantic page structure</a:t>
            </a:r>
            <a:endParaRPr lang="en-US" sz="1000" dirty="0"/>
          </a:p>
        </p:txBody>
      </p:sp>
      <p:sp>
        <p:nvSpPr>
          <p:cNvPr id="9" name="Shape 6"/>
          <p:cNvSpPr/>
          <p:nvPr/>
        </p:nvSpPr>
        <p:spPr>
          <a:xfrm>
            <a:off x="3337560" y="1783080"/>
            <a:ext cx="2560320" cy="2103120"/>
          </a:xfrm>
          <a:prstGeom prst="roundRect">
            <a:avLst>
              <a:gd name="adj" fmla="val 4348"/>
            </a:avLst>
          </a:prstGeom>
          <a:solidFill>
            <a:srgbClr val="F7F7F9"/>
          </a:solidFill>
          <a:ln/>
        </p:spPr>
      </p:sp>
      <p:sp>
        <p:nvSpPr>
          <p:cNvPr id="10" name="Shape 7"/>
          <p:cNvSpPr/>
          <p:nvPr/>
        </p:nvSpPr>
        <p:spPr>
          <a:xfrm>
            <a:off x="4288536" y="2039112"/>
            <a:ext cx="658368" cy="658368"/>
          </a:xfrm>
          <a:prstGeom prst="ellipse">
            <a:avLst/>
          </a:prstGeom>
          <a:solidFill>
            <a:srgbClr val="17233B"/>
          </a:solidFill>
          <a:ln/>
        </p:spPr>
      </p:sp>
      <p:pic>
        <p:nvPicPr>
          <p:cNvPr id="11" name="Image 1" descr="/home/claude/icons/paintbrush.png">    </p:cNvPr>
          <p:cNvPicPr>
            <a:picLocks noChangeAspect="1"/>
          </p:cNvPicPr>
          <p:nvPr/>
        </p:nvPicPr>
        <p:blipFill>
          <a:blip r:embed="rId2"/>
          <a:stretch>
            <a:fillRect/>
          </a:stretch>
        </p:blipFill>
        <p:spPr>
          <a:xfrm>
            <a:off x="4436669" y="2187245"/>
            <a:ext cx="362102" cy="362102"/>
          </a:xfrm>
          <a:prstGeom prst="rect">
            <a:avLst/>
          </a:prstGeom>
        </p:spPr>
      </p:pic>
      <p:sp>
        <p:nvSpPr>
          <p:cNvPr id="12" name="Text 8"/>
          <p:cNvSpPr/>
          <p:nvPr/>
        </p:nvSpPr>
        <p:spPr>
          <a:xfrm>
            <a:off x="3474720" y="2788920"/>
            <a:ext cx="2286000" cy="365760"/>
          </a:xfrm>
          <a:prstGeom prst="rect">
            <a:avLst/>
          </a:prstGeom>
          <a:noFill/>
          <a:ln/>
        </p:spPr>
        <p:txBody>
          <a:bodyPr wrap="square" rtlCol="0" anchor="ctr"/>
          <a:lstStyle/>
          <a:p>
            <a:pPr algn="ctr" indent="0" marL="0">
              <a:buNone/>
            </a:pPr>
            <a:r>
              <a:rPr lang="en-US" sz="1400" b="1" dirty="0">
                <a:solidFill>
                  <a:srgbClr val="15171C"/>
                </a:solidFill>
                <a:latin typeface="Cambria" pitchFamily="34" charset="0"/>
                <a:ea typeface="Cambria" pitchFamily="34" charset="-122"/>
                <a:cs typeface="Cambria" pitchFamily="34" charset="-120"/>
              </a:rPr>
              <a:t>CSS3</a:t>
            </a:r>
            <a:endParaRPr lang="en-US" sz="1400" dirty="0"/>
          </a:p>
        </p:txBody>
      </p:sp>
      <p:sp>
        <p:nvSpPr>
          <p:cNvPr id="13" name="Text 9"/>
          <p:cNvSpPr/>
          <p:nvPr/>
        </p:nvSpPr>
        <p:spPr>
          <a:xfrm>
            <a:off x="3474720" y="3154680"/>
            <a:ext cx="2286000" cy="640080"/>
          </a:xfrm>
          <a:prstGeom prst="rect">
            <a:avLst/>
          </a:prstGeom>
          <a:noFill/>
          <a:ln/>
        </p:spPr>
        <p:txBody>
          <a:bodyPr wrap="square" rtlCol="0" anchor="t"/>
          <a:lstStyle/>
          <a:p>
            <a:pPr algn="ctr" indent="0" marL="0">
              <a:buNone/>
            </a:pPr>
            <a:r>
              <a:rPr lang="en-US" sz="1000" dirty="0">
                <a:solidFill>
                  <a:srgbClr val="6C7078"/>
                </a:solidFill>
                <a:latin typeface="Calibri" pitchFamily="34" charset="0"/>
                <a:ea typeface="Calibri" pitchFamily="34" charset="-122"/>
                <a:cs typeface="Calibri" pitchFamily="34" charset="-120"/>
              </a:rPr>
              <a:t>Custom properties / design tokens, no framework</a:t>
            </a:r>
            <a:endParaRPr lang="en-US" sz="1000" dirty="0"/>
          </a:p>
        </p:txBody>
      </p:sp>
      <p:sp>
        <p:nvSpPr>
          <p:cNvPr id="14" name="Shape 10"/>
          <p:cNvSpPr/>
          <p:nvPr/>
        </p:nvSpPr>
        <p:spPr>
          <a:xfrm>
            <a:off x="6126480" y="1783080"/>
            <a:ext cx="2560320" cy="2103120"/>
          </a:xfrm>
          <a:prstGeom prst="roundRect">
            <a:avLst>
              <a:gd name="adj" fmla="val 4348"/>
            </a:avLst>
          </a:prstGeom>
          <a:solidFill>
            <a:srgbClr val="F7F7F9"/>
          </a:solidFill>
          <a:ln/>
        </p:spPr>
      </p:sp>
      <p:sp>
        <p:nvSpPr>
          <p:cNvPr id="15" name="Shape 11"/>
          <p:cNvSpPr/>
          <p:nvPr/>
        </p:nvSpPr>
        <p:spPr>
          <a:xfrm>
            <a:off x="7077456" y="2039112"/>
            <a:ext cx="658368" cy="658368"/>
          </a:xfrm>
          <a:prstGeom prst="ellipse">
            <a:avLst/>
          </a:prstGeom>
          <a:solidFill>
            <a:srgbClr val="17233B"/>
          </a:solidFill>
          <a:ln/>
        </p:spPr>
      </p:sp>
      <p:pic>
        <p:nvPicPr>
          <p:cNvPr id="16" name="Image 2" descr="/home/claude/icons/bolt.png">    </p:cNvPr>
          <p:cNvPicPr>
            <a:picLocks noChangeAspect="1"/>
          </p:cNvPicPr>
          <p:nvPr/>
        </p:nvPicPr>
        <p:blipFill>
          <a:blip r:embed="rId3"/>
          <a:stretch>
            <a:fillRect/>
          </a:stretch>
        </p:blipFill>
        <p:spPr>
          <a:xfrm>
            <a:off x="7225589" y="2187245"/>
            <a:ext cx="362102" cy="362102"/>
          </a:xfrm>
          <a:prstGeom prst="rect">
            <a:avLst/>
          </a:prstGeom>
        </p:spPr>
      </p:pic>
      <p:sp>
        <p:nvSpPr>
          <p:cNvPr id="17" name="Text 12"/>
          <p:cNvSpPr/>
          <p:nvPr/>
        </p:nvSpPr>
        <p:spPr>
          <a:xfrm>
            <a:off x="6263640" y="2788920"/>
            <a:ext cx="2286000" cy="365760"/>
          </a:xfrm>
          <a:prstGeom prst="rect">
            <a:avLst/>
          </a:prstGeom>
          <a:noFill/>
          <a:ln/>
        </p:spPr>
        <p:txBody>
          <a:bodyPr wrap="square" rtlCol="0" anchor="ctr"/>
          <a:lstStyle/>
          <a:p>
            <a:pPr algn="ctr" indent="0" marL="0">
              <a:buNone/>
            </a:pPr>
            <a:r>
              <a:rPr lang="en-US" sz="1400" b="1" dirty="0">
                <a:solidFill>
                  <a:srgbClr val="15171C"/>
                </a:solidFill>
                <a:latin typeface="Cambria" pitchFamily="34" charset="0"/>
                <a:ea typeface="Cambria" pitchFamily="34" charset="-122"/>
                <a:cs typeface="Cambria" pitchFamily="34" charset="-120"/>
              </a:rPr>
              <a:t>JavaScript</a:t>
            </a:r>
            <a:endParaRPr lang="en-US" sz="1400" dirty="0"/>
          </a:p>
        </p:txBody>
      </p:sp>
      <p:sp>
        <p:nvSpPr>
          <p:cNvPr id="18" name="Text 13"/>
          <p:cNvSpPr/>
          <p:nvPr/>
        </p:nvSpPr>
        <p:spPr>
          <a:xfrm>
            <a:off x="6263640" y="3154680"/>
            <a:ext cx="2286000" cy="640080"/>
          </a:xfrm>
          <a:prstGeom prst="rect">
            <a:avLst/>
          </a:prstGeom>
          <a:noFill/>
          <a:ln/>
        </p:spPr>
        <p:txBody>
          <a:bodyPr wrap="square" rtlCol="0" anchor="t"/>
          <a:lstStyle/>
          <a:p>
            <a:pPr algn="ctr" indent="0" marL="0">
              <a:buNone/>
            </a:pPr>
            <a:r>
              <a:rPr lang="en-US" sz="1000" dirty="0">
                <a:solidFill>
                  <a:srgbClr val="6C7078"/>
                </a:solidFill>
                <a:latin typeface="Calibri" pitchFamily="34" charset="0"/>
                <a:ea typeface="Calibri" pitchFamily="34" charset="-122"/>
                <a:cs typeface="Calibri" pitchFamily="34" charset="-120"/>
              </a:rPr>
              <a:t>Vanilla JS — no build step, no dependencies</a:t>
            </a:r>
            <a:endParaRPr lang="en-US" sz="1000" dirty="0"/>
          </a:p>
        </p:txBody>
      </p:sp>
      <p:sp>
        <p:nvSpPr>
          <p:cNvPr id="19" name="Shape 14"/>
          <p:cNvSpPr/>
          <p:nvPr/>
        </p:nvSpPr>
        <p:spPr>
          <a:xfrm>
            <a:off x="8915400" y="1783080"/>
            <a:ext cx="2560320" cy="2103120"/>
          </a:xfrm>
          <a:prstGeom prst="roundRect">
            <a:avLst>
              <a:gd name="adj" fmla="val 4348"/>
            </a:avLst>
          </a:prstGeom>
          <a:solidFill>
            <a:srgbClr val="F7F7F9"/>
          </a:solidFill>
          <a:ln/>
        </p:spPr>
      </p:sp>
      <p:sp>
        <p:nvSpPr>
          <p:cNvPr id="20" name="Shape 15"/>
          <p:cNvSpPr/>
          <p:nvPr/>
        </p:nvSpPr>
        <p:spPr>
          <a:xfrm>
            <a:off x="9866376" y="2039112"/>
            <a:ext cx="658368" cy="658368"/>
          </a:xfrm>
          <a:prstGeom prst="ellipse">
            <a:avLst/>
          </a:prstGeom>
          <a:solidFill>
            <a:srgbClr val="17233B"/>
          </a:solidFill>
          <a:ln/>
        </p:spPr>
      </p:sp>
      <p:pic>
        <p:nvPicPr>
          <p:cNvPr id="21" name="Image 3" descr="/home/claude/icons/star.png">    </p:cNvPr>
          <p:cNvPicPr>
            <a:picLocks noChangeAspect="1"/>
          </p:cNvPicPr>
          <p:nvPr/>
        </p:nvPicPr>
        <p:blipFill>
          <a:blip r:embed="rId4"/>
          <a:stretch>
            <a:fillRect/>
          </a:stretch>
        </p:blipFill>
        <p:spPr>
          <a:xfrm>
            <a:off x="10014509" y="2187245"/>
            <a:ext cx="362102" cy="362102"/>
          </a:xfrm>
          <a:prstGeom prst="rect">
            <a:avLst/>
          </a:prstGeom>
        </p:spPr>
      </p:pic>
      <p:sp>
        <p:nvSpPr>
          <p:cNvPr id="22" name="Text 16"/>
          <p:cNvSpPr/>
          <p:nvPr/>
        </p:nvSpPr>
        <p:spPr>
          <a:xfrm>
            <a:off x="9052560" y="2788920"/>
            <a:ext cx="2286000" cy="365760"/>
          </a:xfrm>
          <a:prstGeom prst="rect">
            <a:avLst/>
          </a:prstGeom>
          <a:noFill/>
          <a:ln/>
        </p:spPr>
        <p:txBody>
          <a:bodyPr wrap="square" rtlCol="0" anchor="ctr"/>
          <a:lstStyle/>
          <a:p>
            <a:pPr algn="ctr" indent="0" marL="0">
              <a:buNone/>
            </a:pPr>
            <a:r>
              <a:rPr lang="en-US" sz="1400" b="1" dirty="0">
                <a:solidFill>
                  <a:srgbClr val="15171C"/>
                </a:solidFill>
                <a:latin typeface="Cambria" pitchFamily="34" charset="0"/>
                <a:ea typeface="Cambria" pitchFamily="34" charset="-122"/>
                <a:cs typeface="Cambria" pitchFamily="34" charset="-120"/>
              </a:rPr>
              <a:t>Font Awesome</a:t>
            </a:r>
            <a:endParaRPr lang="en-US" sz="1400" dirty="0"/>
          </a:p>
        </p:txBody>
      </p:sp>
      <p:sp>
        <p:nvSpPr>
          <p:cNvPr id="23" name="Text 17"/>
          <p:cNvSpPr/>
          <p:nvPr/>
        </p:nvSpPr>
        <p:spPr>
          <a:xfrm>
            <a:off x="9052560" y="3154680"/>
            <a:ext cx="2286000" cy="640080"/>
          </a:xfrm>
          <a:prstGeom prst="rect">
            <a:avLst/>
          </a:prstGeom>
          <a:noFill/>
          <a:ln/>
        </p:spPr>
        <p:txBody>
          <a:bodyPr wrap="square" rtlCol="0" anchor="t"/>
          <a:lstStyle/>
          <a:p>
            <a:pPr algn="ctr" indent="0" marL="0">
              <a:buNone/>
            </a:pPr>
            <a:r>
              <a:rPr lang="en-US" sz="1000" dirty="0">
                <a:solidFill>
                  <a:srgbClr val="6C7078"/>
                </a:solidFill>
                <a:latin typeface="Calibri" pitchFamily="34" charset="0"/>
                <a:ea typeface="Calibri" pitchFamily="34" charset="-122"/>
                <a:cs typeface="Calibri" pitchFamily="34" charset="-120"/>
              </a:rPr>
              <a:t>Iconography (CDN)</a:t>
            </a:r>
            <a:endParaRPr lang="en-US" sz="1000" dirty="0"/>
          </a:p>
        </p:txBody>
      </p:sp>
      <p:sp>
        <p:nvSpPr>
          <p:cNvPr id="24" name="Shape 18"/>
          <p:cNvSpPr/>
          <p:nvPr/>
        </p:nvSpPr>
        <p:spPr>
          <a:xfrm>
            <a:off x="548640" y="4114800"/>
            <a:ext cx="2560320" cy="2103120"/>
          </a:xfrm>
          <a:prstGeom prst="roundRect">
            <a:avLst>
              <a:gd name="adj" fmla="val 4348"/>
            </a:avLst>
          </a:prstGeom>
          <a:solidFill>
            <a:srgbClr val="F7F7F9"/>
          </a:solidFill>
          <a:ln/>
        </p:spPr>
      </p:sp>
      <p:sp>
        <p:nvSpPr>
          <p:cNvPr id="25" name="Shape 19"/>
          <p:cNvSpPr/>
          <p:nvPr/>
        </p:nvSpPr>
        <p:spPr>
          <a:xfrm>
            <a:off x="1499616" y="4370832"/>
            <a:ext cx="658368" cy="658368"/>
          </a:xfrm>
          <a:prstGeom prst="ellipse">
            <a:avLst/>
          </a:prstGeom>
          <a:solidFill>
            <a:srgbClr val="17233B"/>
          </a:solidFill>
          <a:ln/>
        </p:spPr>
      </p:sp>
      <p:pic>
        <p:nvPicPr>
          <p:cNvPr id="26" name="Image 4" descr="/home/claude/icons/font.png">    </p:cNvPr>
          <p:cNvPicPr>
            <a:picLocks noChangeAspect="1"/>
          </p:cNvPicPr>
          <p:nvPr/>
        </p:nvPicPr>
        <p:blipFill>
          <a:blip r:embed="rId5"/>
          <a:stretch>
            <a:fillRect/>
          </a:stretch>
        </p:blipFill>
        <p:spPr>
          <a:xfrm>
            <a:off x="1647749" y="4518965"/>
            <a:ext cx="362102" cy="362102"/>
          </a:xfrm>
          <a:prstGeom prst="rect">
            <a:avLst/>
          </a:prstGeom>
        </p:spPr>
      </p:pic>
      <p:sp>
        <p:nvSpPr>
          <p:cNvPr id="27" name="Text 20"/>
          <p:cNvSpPr/>
          <p:nvPr/>
        </p:nvSpPr>
        <p:spPr>
          <a:xfrm>
            <a:off x="685800" y="5120640"/>
            <a:ext cx="2286000" cy="365760"/>
          </a:xfrm>
          <a:prstGeom prst="rect">
            <a:avLst/>
          </a:prstGeom>
          <a:noFill/>
          <a:ln/>
        </p:spPr>
        <p:txBody>
          <a:bodyPr wrap="square" rtlCol="0" anchor="ctr"/>
          <a:lstStyle/>
          <a:p>
            <a:pPr algn="ctr" indent="0" marL="0">
              <a:buNone/>
            </a:pPr>
            <a:r>
              <a:rPr lang="en-US" sz="1400" b="1" dirty="0">
                <a:solidFill>
                  <a:srgbClr val="15171C"/>
                </a:solidFill>
                <a:latin typeface="Cambria" pitchFamily="34" charset="0"/>
                <a:ea typeface="Cambria" pitchFamily="34" charset="-122"/>
                <a:cs typeface="Cambria" pitchFamily="34" charset="-120"/>
              </a:rPr>
              <a:t>Google Fonts</a:t>
            </a:r>
            <a:endParaRPr lang="en-US" sz="1400" dirty="0"/>
          </a:p>
        </p:txBody>
      </p:sp>
      <p:sp>
        <p:nvSpPr>
          <p:cNvPr id="28" name="Text 21"/>
          <p:cNvSpPr/>
          <p:nvPr/>
        </p:nvSpPr>
        <p:spPr>
          <a:xfrm>
            <a:off x="685800" y="5486400"/>
            <a:ext cx="2286000" cy="640080"/>
          </a:xfrm>
          <a:prstGeom prst="rect">
            <a:avLst/>
          </a:prstGeom>
          <a:noFill/>
          <a:ln/>
        </p:spPr>
        <p:txBody>
          <a:bodyPr wrap="square" rtlCol="0" anchor="t"/>
          <a:lstStyle/>
          <a:p>
            <a:pPr algn="ctr" indent="0" marL="0">
              <a:buNone/>
            </a:pPr>
            <a:r>
              <a:rPr lang="en-US" sz="1000" dirty="0">
                <a:solidFill>
                  <a:srgbClr val="6C7078"/>
                </a:solidFill>
                <a:latin typeface="Calibri" pitchFamily="34" charset="0"/>
                <a:ea typeface="Calibri" pitchFamily="34" charset="-122"/>
                <a:cs typeface="Calibri" pitchFamily="34" charset="-120"/>
              </a:rPr>
              <a:t>Plus Jakarta Sans &amp; Inter</a:t>
            </a:r>
            <a:endParaRPr lang="en-US" sz="1000" dirty="0"/>
          </a:p>
        </p:txBody>
      </p:sp>
      <p:sp>
        <p:nvSpPr>
          <p:cNvPr id="29" name="Shape 22"/>
          <p:cNvSpPr/>
          <p:nvPr/>
        </p:nvSpPr>
        <p:spPr>
          <a:xfrm>
            <a:off x="3337560" y="4114800"/>
            <a:ext cx="2560320" cy="2103120"/>
          </a:xfrm>
          <a:prstGeom prst="roundRect">
            <a:avLst>
              <a:gd name="adj" fmla="val 4348"/>
            </a:avLst>
          </a:prstGeom>
          <a:solidFill>
            <a:srgbClr val="F7F7F9"/>
          </a:solidFill>
          <a:ln/>
        </p:spPr>
      </p:sp>
      <p:sp>
        <p:nvSpPr>
          <p:cNvPr id="30" name="Shape 23"/>
          <p:cNvSpPr/>
          <p:nvPr/>
        </p:nvSpPr>
        <p:spPr>
          <a:xfrm>
            <a:off x="4288536" y="4370832"/>
            <a:ext cx="658368" cy="658368"/>
          </a:xfrm>
          <a:prstGeom prst="ellipse">
            <a:avLst/>
          </a:prstGeom>
          <a:solidFill>
            <a:srgbClr val="17233B"/>
          </a:solidFill>
          <a:ln/>
        </p:spPr>
      </p:sp>
      <p:pic>
        <p:nvPicPr>
          <p:cNvPr id="31" name="Image 5" descr="/home/claude/icons/database.png">    </p:cNvPr>
          <p:cNvPicPr>
            <a:picLocks noChangeAspect="1"/>
          </p:cNvPicPr>
          <p:nvPr/>
        </p:nvPicPr>
        <p:blipFill>
          <a:blip r:embed="rId6"/>
          <a:stretch>
            <a:fillRect/>
          </a:stretch>
        </p:blipFill>
        <p:spPr>
          <a:xfrm>
            <a:off x="4436669" y="4518965"/>
            <a:ext cx="362102" cy="362102"/>
          </a:xfrm>
          <a:prstGeom prst="rect">
            <a:avLst/>
          </a:prstGeom>
        </p:spPr>
      </p:pic>
      <p:sp>
        <p:nvSpPr>
          <p:cNvPr id="32" name="Text 24"/>
          <p:cNvSpPr/>
          <p:nvPr/>
        </p:nvSpPr>
        <p:spPr>
          <a:xfrm>
            <a:off x="3474720" y="5120640"/>
            <a:ext cx="2286000" cy="365760"/>
          </a:xfrm>
          <a:prstGeom prst="rect">
            <a:avLst/>
          </a:prstGeom>
          <a:noFill/>
          <a:ln/>
        </p:spPr>
        <p:txBody>
          <a:bodyPr wrap="square" rtlCol="0" anchor="ctr"/>
          <a:lstStyle/>
          <a:p>
            <a:pPr algn="ctr" indent="0" marL="0">
              <a:buNone/>
            </a:pPr>
            <a:r>
              <a:rPr lang="en-US" sz="1400" b="1" dirty="0">
                <a:solidFill>
                  <a:srgbClr val="15171C"/>
                </a:solidFill>
                <a:latin typeface="Cambria" pitchFamily="34" charset="0"/>
                <a:ea typeface="Cambria" pitchFamily="34" charset="-122"/>
                <a:cs typeface="Cambria" pitchFamily="34" charset="-120"/>
              </a:rPr>
              <a:t>localStorage</a:t>
            </a:r>
            <a:endParaRPr lang="en-US" sz="1400" dirty="0"/>
          </a:p>
        </p:txBody>
      </p:sp>
      <p:sp>
        <p:nvSpPr>
          <p:cNvPr id="33" name="Text 25"/>
          <p:cNvSpPr/>
          <p:nvPr/>
        </p:nvSpPr>
        <p:spPr>
          <a:xfrm>
            <a:off x="3474720" y="5486400"/>
            <a:ext cx="2286000" cy="640080"/>
          </a:xfrm>
          <a:prstGeom prst="rect">
            <a:avLst/>
          </a:prstGeom>
          <a:noFill/>
          <a:ln/>
        </p:spPr>
        <p:txBody>
          <a:bodyPr wrap="square" rtlCol="0" anchor="t"/>
          <a:lstStyle/>
          <a:p>
            <a:pPr algn="ctr" indent="0" marL="0">
              <a:buNone/>
            </a:pPr>
            <a:r>
              <a:rPr lang="en-US" sz="1000" dirty="0">
                <a:solidFill>
                  <a:srgbClr val="6C7078"/>
                </a:solidFill>
                <a:latin typeface="Calibri" pitchFamily="34" charset="0"/>
                <a:ea typeface="Calibri" pitchFamily="34" charset="-122"/>
                <a:cs typeface="Calibri" pitchFamily="34" charset="-120"/>
              </a:rPr>
              <a:t>Favorites, theme, planner &amp; profile persistence</a:t>
            </a:r>
            <a:endParaRPr lang="en-US" sz="1000" dirty="0"/>
          </a:p>
        </p:txBody>
      </p:sp>
      <p:sp>
        <p:nvSpPr>
          <p:cNvPr id="34" name="Shape 26"/>
          <p:cNvSpPr/>
          <p:nvPr/>
        </p:nvSpPr>
        <p:spPr>
          <a:xfrm>
            <a:off x="6126480" y="4114800"/>
            <a:ext cx="2560320" cy="2103120"/>
          </a:xfrm>
          <a:prstGeom prst="roundRect">
            <a:avLst>
              <a:gd name="adj" fmla="val 4348"/>
            </a:avLst>
          </a:prstGeom>
          <a:solidFill>
            <a:srgbClr val="F7F7F9"/>
          </a:solidFill>
          <a:ln/>
        </p:spPr>
      </p:sp>
      <p:sp>
        <p:nvSpPr>
          <p:cNvPr id="35" name="Shape 27"/>
          <p:cNvSpPr/>
          <p:nvPr/>
        </p:nvSpPr>
        <p:spPr>
          <a:xfrm>
            <a:off x="7077456" y="4370832"/>
            <a:ext cx="658368" cy="658368"/>
          </a:xfrm>
          <a:prstGeom prst="ellipse">
            <a:avLst/>
          </a:prstGeom>
          <a:solidFill>
            <a:srgbClr val="17233B"/>
          </a:solidFill>
          <a:ln/>
        </p:spPr>
      </p:sp>
      <p:pic>
        <p:nvPicPr>
          <p:cNvPr id="36" name="Image 6" descr="/home/claude/icons/gitAlt.png">    </p:cNvPr>
          <p:cNvPicPr>
            <a:picLocks noChangeAspect="1"/>
          </p:cNvPicPr>
          <p:nvPr/>
        </p:nvPicPr>
        <p:blipFill>
          <a:blip r:embed="rId7"/>
          <a:stretch>
            <a:fillRect/>
          </a:stretch>
        </p:blipFill>
        <p:spPr>
          <a:xfrm>
            <a:off x="7225589" y="4518965"/>
            <a:ext cx="362102" cy="362102"/>
          </a:xfrm>
          <a:prstGeom prst="rect">
            <a:avLst/>
          </a:prstGeom>
        </p:spPr>
      </p:pic>
      <p:sp>
        <p:nvSpPr>
          <p:cNvPr id="37" name="Text 28"/>
          <p:cNvSpPr/>
          <p:nvPr/>
        </p:nvSpPr>
        <p:spPr>
          <a:xfrm>
            <a:off x="6263640" y="5120640"/>
            <a:ext cx="2286000" cy="365760"/>
          </a:xfrm>
          <a:prstGeom prst="rect">
            <a:avLst/>
          </a:prstGeom>
          <a:noFill/>
          <a:ln/>
        </p:spPr>
        <p:txBody>
          <a:bodyPr wrap="square" rtlCol="0" anchor="ctr"/>
          <a:lstStyle/>
          <a:p>
            <a:pPr algn="ctr" indent="0" marL="0">
              <a:buNone/>
            </a:pPr>
            <a:r>
              <a:rPr lang="en-US" sz="1400" b="1" dirty="0">
                <a:solidFill>
                  <a:srgbClr val="15171C"/>
                </a:solidFill>
                <a:latin typeface="Cambria" pitchFamily="34" charset="0"/>
                <a:ea typeface="Cambria" pitchFamily="34" charset="-122"/>
                <a:cs typeface="Cambria" pitchFamily="34" charset="-120"/>
              </a:rPr>
              <a:t>Git / GitHub</a:t>
            </a:r>
            <a:endParaRPr lang="en-US" sz="1400" dirty="0"/>
          </a:p>
        </p:txBody>
      </p:sp>
      <p:sp>
        <p:nvSpPr>
          <p:cNvPr id="38" name="Text 29"/>
          <p:cNvSpPr/>
          <p:nvPr/>
        </p:nvSpPr>
        <p:spPr>
          <a:xfrm>
            <a:off x="6263640" y="5486400"/>
            <a:ext cx="2286000" cy="640080"/>
          </a:xfrm>
          <a:prstGeom prst="rect">
            <a:avLst/>
          </a:prstGeom>
          <a:noFill/>
          <a:ln/>
        </p:spPr>
        <p:txBody>
          <a:bodyPr wrap="square" rtlCol="0" anchor="t"/>
          <a:lstStyle/>
          <a:p>
            <a:pPr algn="ctr" indent="0" marL="0">
              <a:buNone/>
            </a:pPr>
            <a:r>
              <a:rPr lang="en-US" sz="1000" dirty="0">
                <a:solidFill>
                  <a:srgbClr val="6C7078"/>
                </a:solidFill>
                <a:latin typeface="Calibri" pitchFamily="34" charset="0"/>
                <a:ea typeface="Calibri" pitchFamily="34" charset="-122"/>
                <a:cs typeface="Calibri" pitchFamily="34" charset="-120"/>
              </a:rPr>
              <a:t>Version control &amp; submission</a:t>
            </a:r>
            <a:endParaRPr lang="en-US" sz="1000" dirty="0"/>
          </a:p>
        </p:txBody>
      </p:sp>
      <p:sp>
        <p:nvSpPr>
          <p:cNvPr id="39" name="Shape 30"/>
          <p:cNvSpPr/>
          <p:nvPr/>
        </p:nvSpPr>
        <p:spPr>
          <a:xfrm>
            <a:off x="8915400" y="4114800"/>
            <a:ext cx="2560320" cy="2103120"/>
          </a:xfrm>
          <a:prstGeom prst="roundRect">
            <a:avLst>
              <a:gd name="adj" fmla="val 4348"/>
            </a:avLst>
          </a:prstGeom>
          <a:solidFill>
            <a:srgbClr val="F7F7F9"/>
          </a:solidFill>
          <a:ln/>
        </p:spPr>
      </p:sp>
      <p:sp>
        <p:nvSpPr>
          <p:cNvPr id="40" name="Shape 31"/>
          <p:cNvSpPr/>
          <p:nvPr/>
        </p:nvSpPr>
        <p:spPr>
          <a:xfrm>
            <a:off x="9866376" y="4370832"/>
            <a:ext cx="658368" cy="658368"/>
          </a:xfrm>
          <a:prstGeom prst="ellipse">
            <a:avLst/>
          </a:prstGeom>
          <a:solidFill>
            <a:srgbClr val="17233B"/>
          </a:solidFill>
          <a:ln/>
        </p:spPr>
      </p:sp>
      <p:pic>
        <p:nvPicPr>
          <p:cNvPr id="41" name="Image 7" descr="/home/claude/icons/bug.png">    </p:cNvPr>
          <p:cNvPicPr>
            <a:picLocks noChangeAspect="1"/>
          </p:cNvPicPr>
          <p:nvPr/>
        </p:nvPicPr>
        <p:blipFill>
          <a:blip r:embed="rId8"/>
          <a:stretch>
            <a:fillRect/>
          </a:stretch>
        </p:blipFill>
        <p:spPr>
          <a:xfrm>
            <a:off x="10014509" y="4518965"/>
            <a:ext cx="362102" cy="362102"/>
          </a:xfrm>
          <a:prstGeom prst="rect">
            <a:avLst/>
          </a:prstGeom>
        </p:spPr>
      </p:pic>
      <p:sp>
        <p:nvSpPr>
          <p:cNvPr id="42" name="Text 32"/>
          <p:cNvSpPr/>
          <p:nvPr/>
        </p:nvSpPr>
        <p:spPr>
          <a:xfrm>
            <a:off x="9052560" y="5120640"/>
            <a:ext cx="2286000" cy="365760"/>
          </a:xfrm>
          <a:prstGeom prst="rect">
            <a:avLst/>
          </a:prstGeom>
          <a:noFill/>
          <a:ln/>
        </p:spPr>
        <p:txBody>
          <a:bodyPr wrap="square" rtlCol="0" anchor="ctr"/>
          <a:lstStyle/>
          <a:p>
            <a:pPr algn="ctr" indent="0" marL="0">
              <a:buNone/>
            </a:pPr>
            <a:r>
              <a:rPr lang="en-US" sz="1400" b="1" dirty="0">
                <a:solidFill>
                  <a:srgbClr val="15171C"/>
                </a:solidFill>
                <a:latin typeface="Cambria" pitchFamily="34" charset="0"/>
                <a:ea typeface="Cambria" pitchFamily="34" charset="-122"/>
                <a:cs typeface="Cambria" pitchFamily="34" charset="-120"/>
              </a:rPr>
              <a:t>Manual QA</a:t>
            </a:r>
            <a:endParaRPr lang="en-US" sz="1400" dirty="0"/>
          </a:p>
        </p:txBody>
      </p:sp>
      <p:sp>
        <p:nvSpPr>
          <p:cNvPr id="43" name="Text 33"/>
          <p:cNvSpPr/>
          <p:nvPr/>
        </p:nvSpPr>
        <p:spPr>
          <a:xfrm>
            <a:off x="9052560" y="5486400"/>
            <a:ext cx="2286000" cy="640080"/>
          </a:xfrm>
          <a:prstGeom prst="rect">
            <a:avLst/>
          </a:prstGeom>
          <a:noFill/>
          <a:ln/>
        </p:spPr>
        <p:txBody>
          <a:bodyPr wrap="square" rtlCol="0" anchor="t"/>
          <a:lstStyle/>
          <a:p>
            <a:pPr algn="ctr" indent="0" marL="0">
              <a:buNone/>
            </a:pPr>
            <a:r>
              <a:rPr lang="en-US" sz="1000" dirty="0">
                <a:solidFill>
                  <a:srgbClr val="6C7078"/>
                </a:solidFill>
                <a:latin typeface="Calibri" pitchFamily="34" charset="0"/>
                <a:ea typeface="Calibri" pitchFamily="34" charset="-122"/>
                <a:cs typeface="Calibri" pitchFamily="34" charset="-120"/>
              </a:rPr>
              <a:t>Tag balance, duplicate-ID, and JS syntax checks</a:t>
            </a:r>
            <a:endParaRPr lang="en-US" sz="1000" dirty="0"/>
          </a:p>
        </p:txBody>
      </p:sp>
      <p:sp>
        <p:nvSpPr>
          <p:cNvPr id="44" name="Text 34"/>
          <p:cNvSpPr/>
          <p:nvPr/>
        </p:nvSpPr>
        <p:spPr>
          <a:xfrm>
            <a:off x="457200" y="6510528"/>
            <a:ext cx="7315200" cy="274320"/>
          </a:xfrm>
          <a:prstGeom prst="rect">
            <a:avLst/>
          </a:prstGeom>
          <a:noFill/>
          <a:ln/>
        </p:spPr>
        <p:txBody>
          <a:bodyPr wrap="square" rtlCol="0" anchor="ctr"/>
          <a:lstStyle/>
          <a:p>
            <a:pPr indent="0" marL="0">
              <a:buNone/>
            </a:pPr>
            <a:r>
              <a:rPr lang="en-US" sz="900" i="1" dirty="0">
                <a:solidFill>
                  <a:srgbClr val="6C7078"/>
                </a:solidFill>
                <a:latin typeface="Calibri" pitchFamily="34" charset="0"/>
                <a:ea typeface="Calibri" pitchFamily="34" charset="-122"/>
                <a:cs typeface="Calibri" pitchFamily="34" charset="-120"/>
              </a:rPr>
              <a:t>MERIDIAN  ·  CODIORA HOUSE WEEK 8 FINAL PROJECT</a:t>
            </a:r>
            <a:endParaRPr lang="en-US" sz="900" dirty="0"/>
          </a:p>
        </p:txBody>
      </p:sp>
      <p:sp>
        <p:nvSpPr>
          <p:cNvPr id="45" name="Text 35"/>
          <p:cNvSpPr/>
          <p:nvPr/>
        </p:nvSpPr>
        <p:spPr>
          <a:xfrm>
            <a:off x="10332720" y="6510528"/>
            <a:ext cx="1371600" cy="274320"/>
          </a:xfrm>
          <a:prstGeom prst="rect">
            <a:avLst/>
          </a:prstGeom>
          <a:noFill/>
          <a:ln/>
        </p:spPr>
        <p:txBody>
          <a:bodyPr wrap="square" rtlCol="0" anchor="ctr"/>
          <a:lstStyle/>
          <a:p>
            <a:pPr algn="r" indent="0" marL="0">
              <a:buNone/>
            </a:pPr>
            <a:r>
              <a:rPr lang="en-US" sz="900" dirty="0">
                <a:solidFill>
                  <a:srgbClr val="6C707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300" b="1" spc="200" kern="0" dirty="0">
                <a:solidFill>
                  <a:srgbClr val="F0653E"/>
                </a:solidFill>
                <a:latin typeface="Calibri" pitchFamily="34" charset="0"/>
                <a:ea typeface="Calibri" pitchFamily="34" charset="-122"/>
                <a:cs typeface="Calibri" pitchFamily="34" charset="-120"/>
              </a:rPr>
              <a:t>06 · CHALLENGES</a:t>
            </a:r>
            <a:endParaRPr lang="en-US" sz="1300" dirty="0"/>
          </a:p>
        </p:txBody>
      </p:sp>
      <p:sp>
        <p:nvSpPr>
          <p:cNvPr id="3" name="Text 1"/>
          <p:cNvSpPr/>
          <p:nvPr/>
        </p:nvSpPr>
        <p:spPr>
          <a:xfrm>
            <a:off x="548640" y="749808"/>
            <a:ext cx="10607040" cy="731520"/>
          </a:xfrm>
          <a:prstGeom prst="rect">
            <a:avLst/>
          </a:prstGeom>
          <a:noFill/>
          <a:ln/>
        </p:spPr>
        <p:txBody>
          <a:bodyPr wrap="square" rtlCol="0" anchor="ctr"/>
          <a:lstStyle/>
          <a:p>
            <a:pPr indent="0" marL="0">
              <a:buNone/>
            </a:pPr>
            <a:r>
              <a:rPr lang="en-US" sz="3200" b="1" dirty="0">
                <a:solidFill>
                  <a:srgbClr val="15171C"/>
                </a:solidFill>
                <a:latin typeface="Cambria" pitchFamily="34" charset="0"/>
                <a:ea typeface="Cambria" pitchFamily="34" charset="-122"/>
                <a:cs typeface="Cambria" pitchFamily="34" charset="-120"/>
              </a:rPr>
              <a:t>Challenges faced</a:t>
            </a:r>
            <a:endParaRPr lang="en-US" sz="3200" dirty="0"/>
          </a:p>
        </p:txBody>
      </p:sp>
      <p:sp>
        <p:nvSpPr>
          <p:cNvPr id="4" name="Shape 2"/>
          <p:cNvSpPr/>
          <p:nvPr/>
        </p:nvSpPr>
        <p:spPr>
          <a:xfrm>
            <a:off x="548640" y="1783080"/>
            <a:ext cx="777240" cy="777240"/>
          </a:xfrm>
          <a:prstGeom prst="ellipse">
            <a:avLst/>
          </a:prstGeom>
          <a:solidFill>
            <a:srgbClr val="17233B"/>
          </a:solidFill>
          <a:ln/>
        </p:spPr>
      </p:sp>
      <p:pic>
        <p:nvPicPr>
          <p:cNvPr id="5" name="Image 0" descr="/home/claude/icons/mountain.png">    </p:cNvPr>
          <p:cNvPicPr>
            <a:picLocks noChangeAspect="1"/>
          </p:cNvPicPr>
          <p:nvPr/>
        </p:nvPicPr>
        <p:blipFill>
          <a:blip r:embed="rId1"/>
          <a:stretch>
            <a:fillRect/>
          </a:stretch>
        </p:blipFill>
        <p:spPr>
          <a:xfrm>
            <a:off x="723519" y="1957959"/>
            <a:ext cx="427482" cy="427482"/>
          </a:xfrm>
          <a:prstGeom prst="rect">
            <a:avLst/>
          </a:prstGeom>
        </p:spPr>
      </p:pic>
      <p:sp>
        <p:nvSpPr>
          <p:cNvPr id="6" name="Text 3"/>
          <p:cNvSpPr/>
          <p:nvPr/>
        </p:nvSpPr>
        <p:spPr>
          <a:xfrm>
            <a:off x="1508760" y="1764792"/>
            <a:ext cx="9966960" cy="365760"/>
          </a:xfrm>
          <a:prstGeom prst="rect">
            <a:avLst/>
          </a:prstGeom>
          <a:noFill/>
          <a:ln/>
        </p:spPr>
        <p:txBody>
          <a:bodyPr wrap="square" rtlCol="0" anchor="ctr"/>
          <a:lstStyle/>
          <a:p>
            <a:pPr indent="0" marL="0">
              <a:buNone/>
            </a:pPr>
            <a:r>
              <a:rPr lang="en-US" sz="1600" b="1" dirty="0">
                <a:solidFill>
                  <a:srgbClr val="15171C"/>
                </a:solidFill>
                <a:latin typeface="Cambria" pitchFamily="34" charset="0"/>
                <a:ea typeface="Cambria" pitchFamily="34" charset="-122"/>
                <a:cs typeface="Cambria" pitchFamily="34" charset="-120"/>
              </a:rPr>
              <a:t>Keeping one big file organized</a:t>
            </a:r>
            <a:endParaRPr lang="en-US" sz="1600" dirty="0"/>
          </a:p>
        </p:txBody>
      </p:sp>
      <p:sp>
        <p:nvSpPr>
          <p:cNvPr id="7" name="Text 4"/>
          <p:cNvSpPr/>
          <p:nvPr/>
        </p:nvSpPr>
        <p:spPr>
          <a:xfrm>
            <a:off x="1508760" y="2167128"/>
            <a:ext cx="9966960" cy="685800"/>
          </a:xfrm>
          <a:prstGeom prst="rect">
            <a:avLst/>
          </a:prstGeom>
          <a:noFill/>
          <a:ln/>
        </p:spPr>
        <p:txBody>
          <a:bodyPr wrap="square" rtlCol="0" anchor="t"/>
          <a:lstStyle/>
          <a:p>
            <a:pPr indent="0" marL="0">
              <a:buNone/>
            </a:pPr>
            <a:r>
              <a:rPr lang="en-US" sz="1300" dirty="0">
                <a:solidFill>
                  <a:srgbClr val="6C7078"/>
                </a:solidFill>
                <a:latin typeface="Calibri" pitchFamily="34" charset="0"/>
                <a:ea typeface="Calibri" pitchFamily="34" charset="-122"/>
                <a:cs typeface="Calibri" pitchFamily="34" charset="-120"/>
              </a:rPr>
              <a:t>As new sections were added week over week, the project needed small, consistent render functions and a shared data store to stay maintainable.</a:t>
            </a:r>
            <a:endParaRPr lang="en-US" sz="1300" dirty="0"/>
          </a:p>
        </p:txBody>
      </p:sp>
      <p:sp>
        <p:nvSpPr>
          <p:cNvPr id="8" name="Shape 5"/>
          <p:cNvSpPr/>
          <p:nvPr/>
        </p:nvSpPr>
        <p:spPr>
          <a:xfrm>
            <a:off x="548640" y="3200400"/>
            <a:ext cx="777240" cy="777240"/>
          </a:xfrm>
          <a:prstGeom prst="ellipse">
            <a:avLst/>
          </a:prstGeom>
          <a:solidFill>
            <a:srgbClr val="17233B"/>
          </a:solidFill>
          <a:ln/>
        </p:spPr>
      </p:sp>
      <p:pic>
        <p:nvPicPr>
          <p:cNvPr id="9" name="Image 1" descr="/home/claude/icons/moon.png">    </p:cNvPr>
          <p:cNvPicPr>
            <a:picLocks noChangeAspect="1"/>
          </p:cNvPicPr>
          <p:nvPr/>
        </p:nvPicPr>
        <p:blipFill>
          <a:blip r:embed="rId2"/>
          <a:stretch>
            <a:fillRect/>
          </a:stretch>
        </p:blipFill>
        <p:spPr>
          <a:xfrm>
            <a:off x="723519" y="3375279"/>
            <a:ext cx="427482" cy="427482"/>
          </a:xfrm>
          <a:prstGeom prst="rect">
            <a:avLst/>
          </a:prstGeom>
        </p:spPr>
      </p:pic>
      <p:sp>
        <p:nvSpPr>
          <p:cNvPr id="10" name="Text 6"/>
          <p:cNvSpPr/>
          <p:nvPr/>
        </p:nvSpPr>
        <p:spPr>
          <a:xfrm>
            <a:off x="1508760" y="3182112"/>
            <a:ext cx="9966960" cy="365760"/>
          </a:xfrm>
          <a:prstGeom prst="rect">
            <a:avLst/>
          </a:prstGeom>
          <a:noFill/>
          <a:ln/>
        </p:spPr>
        <p:txBody>
          <a:bodyPr wrap="square" rtlCol="0" anchor="ctr"/>
          <a:lstStyle/>
          <a:p>
            <a:pPr indent="0" marL="0">
              <a:buNone/>
            </a:pPr>
            <a:r>
              <a:rPr lang="en-US" sz="1600" b="1" dirty="0">
                <a:solidFill>
                  <a:srgbClr val="15171C"/>
                </a:solidFill>
                <a:latin typeface="Cambria" pitchFamily="34" charset="0"/>
                <a:ea typeface="Cambria" pitchFamily="34" charset="-122"/>
                <a:cs typeface="Cambria" pitchFamily="34" charset="-120"/>
              </a:rPr>
              <a:t>Layering dark mode without breakage</a:t>
            </a:r>
            <a:endParaRPr lang="en-US" sz="1600" dirty="0"/>
          </a:p>
        </p:txBody>
      </p:sp>
      <p:sp>
        <p:nvSpPr>
          <p:cNvPr id="11" name="Text 7"/>
          <p:cNvSpPr/>
          <p:nvPr/>
        </p:nvSpPr>
        <p:spPr>
          <a:xfrm>
            <a:off x="1508760" y="3584448"/>
            <a:ext cx="9966960" cy="685800"/>
          </a:xfrm>
          <a:prstGeom prst="rect">
            <a:avLst/>
          </a:prstGeom>
          <a:noFill/>
          <a:ln/>
        </p:spPr>
        <p:txBody>
          <a:bodyPr wrap="square" rtlCol="0" anchor="t"/>
          <a:lstStyle/>
          <a:p>
            <a:pPr indent="0" marL="0">
              <a:buNone/>
            </a:pPr>
            <a:r>
              <a:rPr lang="en-US" sz="1300" dirty="0">
                <a:solidFill>
                  <a:srgbClr val="6C7078"/>
                </a:solidFill>
                <a:latin typeface="Calibri" pitchFamily="34" charset="0"/>
                <a:ea typeface="Calibri" pitchFamily="34" charset="-122"/>
                <a:cs typeface="Calibri" pitchFamily="34" charset="-120"/>
              </a:rPr>
              <a:t>Adding a theme toggle late meant finding every hardcoded white background and every dual-purpose color token without touching working markup or logic.</a:t>
            </a:r>
            <a:endParaRPr lang="en-US" sz="1300" dirty="0"/>
          </a:p>
        </p:txBody>
      </p:sp>
      <p:sp>
        <p:nvSpPr>
          <p:cNvPr id="12" name="Shape 8"/>
          <p:cNvSpPr/>
          <p:nvPr/>
        </p:nvSpPr>
        <p:spPr>
          <a:xfrm>
            <a:off x="548640" y="4617720"/>
            <a:ext cx="777240" cy="777240"/>
          </a:xfrm>
          <a:prstGeom prst="ellipse">
            <a:avLst/>
          </a:prstGeom>
          <a:solidFill>
            <a:srgbClr val="17233B"/>
          </a:solidFill>
          <a:ln/>
        </p:spPr>
      </p:sp>
      <p:pic>
        <p:nvPicPr>
          <p:cNvPr id="13" name="Image 2" descr="/home/claude/icons/bug.png">    </p:cNvPr>
          <p:cNvPicPr>
            <a:picLocks noChangeAspect="1"/>
          </p:cNvPicPr>
          <p:nvPr/>
        </p:nvPicPr>
        <p:blipFill>
          <a:blip r:embed="rId3"/>
          <a:stretch>
            <a:fillRect/>
          </a:stretch>
        </p:blipFill>
        <p:spPr>
          <a:xfrm>
            <a:off x="723519" y="4792599"/>
            <a:ext cx="427482" cy="427482"/>
          </a:xfrm>
          <a:prstGeom prst="rect">
            <a:avLst/>
          </a:prstGeom>
        </p:spPr>
      </p:pic>
      <p:sp>
        <p:nvSpPr>
          <p:cNvPr id="14" name="Text 9"/>
          <p:cNvSpPr/>
          <p:nvPr/>
        </p:nvSpPr>
        <p:spPr>
          <a:xfrm>
            <a:off x="1508760" y="4599432"/>
            <a:ext cx="9966960" cy="365760"/>
          </a:xfrm>
          <a:prstGeom prst="rect">
            <a:avLst/>
          </a:prstGeom>
          <a:noFill/>
          <a:ln/>
        </p:spPr>
        <p:txBody>
          <a:bodyPr wrap="square" rtlCol="0" anchor="ctr"/>
          <a:lstStyle/>
          <a:p>
            <a:pPr indent="0" marL="0">
              <a:buNone/>
            </a:pPr>
            <a:r>
              <a:rPr lang="en-US" sz="1600" b="1" dirty="0">
                <a:solidFill>
                  <a:srgbClr val="15171C"/>
                </a:solidFill>
                <a:latin typeface="Cambria" pitchFamily="34" charset="0"/>
                <a:ea typeface="Cambria" pitchFamily="34" charset="-122"/>
                <a:cs typeface="Cambria" pitchFamily="34" charset="-120"/>
              </a:rPr>
              <a:t>A hidden button bug</a:t>
            </a:r>
            <a:endParaRPr lang="en-US" sz="1600" dirty="0"/>
          </a:p>
        </p:txBody>
      </p:sp>
      <p:sp>
        <p:nvSpPr>
          <p:cNvPr id="15" name="Text 10"/>
          <p:cNvSpPr/>
          <p:nvPr/>
        </p:nvSpPr>
        <p:spPr>
          <a:xfrm>
            <a:off x="1508760" y="5001768"/>
            <a:ext cx="9966960" cy="685800"/>
          </a:xfrm>
          <a:prstGeom prst="rect">
            <a:avLst/>
          </a:prstGeom>
          <a:noFill/>
          <a:ln/>
        </p:spPr>
        <p:txBody>
          <a:bodyPr wrap="square" rtlCol="0" anchor="t"/>
          <a:lstStyle/>
          <a:p>
            <a:pPr indent="0" marL="0">
              <a:buNone/>
            </a:pPr>
            <a:r>
              <a:rPr lang="en-US" sz="1300" dirty="0">
                <a:solidFill>
                  <a:srgbClr val="6C7078"/>
                </a:solidFill>
                <a:latin typeface="Calibri" pitchFamily="34" charset="0"/>
                <a:ea typeface="Calibri" pitchFamily="34" charset="-122"/>
                <a:cs typeface="Calibri" pitchFamily="34" charset="-120"/>
              </a:rPr>
              <a:t>Outline buttons had no explicit background, so they silently relied on the browser's default fill — invisible in dark mode until specifically tested for.</a:t>
            </a:r>
            <a:endParaRPr lang="en-US" sz="1300" dirty="0"/>
          </a:p>
        </p:txBody>
      </p:sp>
      <p:sp>
        <p:nvSpPr>
          <p:cNvPr id="16" name="Text 11"/>
          <p:cNvSpPr/>
          <p:nvPr/>
        </p:nvSpPr>
        <p:spPr>
          <a:xfrm>
            <a:off x="457200" y="6510528"/>
            <a:ext cx="7315200" cy="274320"/>
          </a:xfrm>
          <a:prstGeom prst="rect">
            <a:avLst/>
          </a:prstGeom>
          <a:noFill/>
          <a:ln/>
        </p:spPr>
        <p:txBody>
          <a:bodyPr wrap="square" rtlCol="0" anchor="ctr"/>
          <a:lstStyle/>
          <a:p>
            <a:pPr indent="0" marL="0">
              <a:buNone/>
            </a:pPr>
            <a:r>
              <a:rPr lang="en-US" sz="900" i="1" dirty="0">
                <a:solidFill>
                  <a:srgbClr val="6C7078"/>
                </a:solidFill>
                <a:latin typeface="Calibri" pitchFamily="34" charset="0"/>
                <a:ea typeface="Calibri" pitchFamily="34" charset="-122"/>
                <a:cs typeface="Calibri" pitchFamily="34" charset="-120"/>
              </a:rPr>
              <a:t>MERIDIAN  ·  CODIORA HOUSE WEEK 8 FINAL PROJECT</a:t>
            </a:r>
            <a:endParaRPr lang="en-US" sz="900" dirty="0"/>
          </a:p>
        </p:txBody>
      </p:sp>
      <p:sp>
        <p:nvSpPr>
          <p:cNvPr id="17" name="Text 12"/>
          <p:cNvSpPr/>
          <p:nvPr/>
        </p:nvSpPr>
        <p:spPr>
          <a:xfrm>
            <a:off x="10332720" y="6510528"/>
            <a:ext cx="1371600" cy="274320"/>
          </a:xfrm>
          <a:prstGeom prst="rect">
            <a:avLst/>
          </a:prstGeom>
          <a:noFill/>
          <a:ln/>
        </p:spPr>
        <p:txBody>
          <a:bodyPr wrap="square" rtlCol="0" anchor="ctr"/>
          <a:lstStyle/>
          <a:p>
            <a:pPr algn="r" indent="0" marL="0">
              <a:buNone/>
            </a:pPr>
            <a:r>
              <a:rPr lang="en-US" sz="900" dirty="0">
                <a:solidFill>
                  <a:srgbClr val="6C707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300" b="1" spc="200" kern="0" dirty="0">
                <a:solidFill>
                  <a:srgbClr val="E3A23C"/>
                </a:solidFill>
                <a:latin typeface="Calibri" pitchFamily="34" charset="0"/>
                <a:ea typeface="Calibri" pitchFamily="34" charset="-122"/>
                <a:cs typeface="Calibri" pitchFamily="34" charset="-120"/>
              </a:rPr>
              <a:t>07 · LEARNING</a:t>
            </a:r>
            <a:endParaRPr lang="en-US" sz="1300" dirty="0"/>
          </a:p>
        </p:txBody>
      </p:sp>
      <p:sp>
        <p:nvSpPr>
          <p:cNvPr id="3" name="Text 1"/>
          <p:cNvSpPr/>
          <p:nvPr/>
        </p:nvSpPr>
        <p:spPr>
          <a:xfrm>
            <a:off x="548640" y="749808"/>
            <a:ext cx="10607040" cy="731520"/>
          </a:xfrm>
          <a:prstGeom prst="rect">
            <a:avLst/>
          </a:prstGeom>
          <a:noFill/>
          <a:ln/>
        </p:spPr>
        <p:txBody>
          <a:bodyPr wrap="square" rtlCol="0" anchor="ctr"/>
          <a:lstStyle/>
          <a:p>
            <a:pPr indent="0" marL="0">
              <a:buNone/>
            </a:pPr>
            <a:r>
              <a:rPr lang="en-US" sz="3200" b="1" dirty="0">
                <a:solidFill>
                  <a:srgbClr val="15171C"/>
                </a:solidFill>
                <a:latin typeface="Cambria" pitchFamily="34" charset="0"/>
                <a:ea typeface="Cambria" pitchFamily="34" charset="-122"/>
                <a:cs typeface="Cambria" pitchFamily="34" charset="-120"/>
              </a:rPr>
              <a:t>What I learned</a:t>
            </a:r>
            <a:endParaRPr lang="en-US" sz="3200" dirty="0"/>
          </a:p>
        </p:txBody>
      </p:sp>
      <p:sp>
        <p:nvSpPr>
          <p:cNvPr id="4" name="Shape 2"/>
          <p:cNvSpPr/>
          <p:nvPr/>
        </p:nvSpPr>
        <p:spPr>
          <a:xfrm>
            <a:off x="548640" y="1691640"/>
            <a:ext cx="914400" cy="914400"/>
          </a:xfrm>
          <a:prstGeom prst="ellipse">
            <a:avLst/>
          </a:prstGeom>
          <a:solidFill>
            <a:srgbClr val="17233B"/>
          </a:solidFill>
          <a:ln/>
        </p:spPr>
      </p:sp>
      <p:pic>
        <p:nvPicPr>
          <p:cNvPr id="5" name="Image 0" descr="/home/claude/icons/bulb.png">    </p:cNvPr>
          <p:cNvPicPr>
            <a:picLocks noChangeAspect="1"/>
          </p:cNvPicPr>
          <p:nvPr/>
        </p:nvPicPr>
        <p:blipFill>
          <a:blip r:embed="rId1"/>
          <a:stretch>
            <a:fillRect/>
          </a:stretch>
        </p:blipFill>
        <p:spPr>
          <a:xfrm>
            <a:off x="754380" y="1897380"/>
            <a:ext cx="502920" cy="502920"/>
          </a:xfrm>
          <a:prstGeom prst="rect">
            <a:avLst/>
          </a:prstGeom>
        </p:spPr>
      </p:pic>
      <p:sp>
        <p:nvSpPr>
          <p:cNvPr id="6" name="Text 3"/>
          <p:cNvSpPr/>
          <p:nvPr/>
        </p:nvSpPr>
        <p:spPr>
          <a:xfrm>
            <a:off x="1737360" y="1874520"/>
            <a:ext cx="9601200" cy="548640"/>
          </a:xfrm>
          <a:prstGeom prst="rect">
            <a:avLst/>
          </a:prstGeom>
          <a:noFill/>
          <a:ln/>
        </p:spPr>
        <p:txBody>
          <a:bodyPr wrap="square" rtlCol="0" anchor="t"/>
          <a:lstStyle/>
          <a:p>
            <a:pPr indent="0" marL="0">
              <a:buNone/>
            </a:pPr>
            <a:r>
              <a:rPr lang="en-US" sz="1600" dirty="0">
                <a:solidFill>
                  <a:srgbClr val="15171C"/>
                </a:solidFill>
                <a:latin typeface="Calibri" pitchFamily="34" charset="0"/>
                <a:ea typeface="Calibri" pitchFamily="34" charset="-122"/>
                <a:cs typeface="Calibri" pitchFamily="34" charset="-120"/>
              </a:rPr>
              <a:t>Two habits made the biggest difference to how this project held together over eight weeks:</a:t>
            </a:r>
            <a:endParaRPr lang="en-US" sz="1600" dirty="0"/>
          </a:p>
        </p:txBody>
      </p:sp>
      <p:sp>
        <p:nvSpPr>
          <p:cNvPr id="7" name="Shape 4"/>
          <p:cNvSpPr/>
          <p:nvPr/>
        </p:nvSpPr>
        <p:spPr>
          <a:xfrm>
            <a:off x="548640" y="2788920"/>
            <a:ext cx="11109960" cy="1417320"/>
          </a:xfrm>
          <a:prstGeom prst="roundRect">
            <a:avLst>
              <a:gd name="adj" fmla="val 6452"/>
            </a:avLst>
          </a:prstGeom>
          <a:solidFill>
            <a:srgbClr val="F7F7F9"/>
          </a:solidFill>
          <a:ln/>
        </p:spPr>
      </p:sp>
      <p:sp>
        <p:nvSpPr>
          <p:cNvPr id="8" name="Text 5"/>
          <p:cNvSpPr/>
          <p:nvPr/>
        </p:nvSpPr>
        <p:spPr>
          <a:xfrm>
            <a:off x="777240" y="2926080"/>
            <a:ext cx="914400" cy="1097280"/>
          </a:xfrm>
          <a:prstGeom prst="rect">
            <a:avLst/>
          </a:prstGeom>
          <a:noFill/>
          <a:ln/>
        </p:spPr>
        <p:txBody>
          <a:bodyPr wrap="square" rtlCol="0" anchor="ctr"/>
          <a:lstStyle/>
          <a:p>
            <a:pPr indent="0" marL="0">
              <a:buNone/>
            </a:pPr>
            <a:r>
              <a:rPr lang="en-US" sz="3400" b="1" dirty="0">
                <a:solidFill>
                  <a:srgbClr val="D8DCE6"/>
                </a:solidFill>
                <a:latin typeface="Cambria" pitchFamily="34" charset="0"/>
                <a:ea typeface="Cambria" pitchFamily="34" charset="-122"/>
                <a:cs typeface="Cambria" pitchFamily="34" charset="-120"/>
              </a:rPr>
              <a:t>01</a:t>
            </a:r>
            <a:endParaRPr lang="en-US" sz="3400" dirty="0"/>
          </a:p>
        </p:txBody>
      </p:sp>
      <p:sp>
        <p:nvSpPr>
          <p:cNvPr id="9" name="Text 6"/>
          <p:cNvSpPr/>
          <p:nvPr/>
        </p:nvSpPr>
        <p:spPr>
          <a:xfrm>
            <a:off x="1783080" y="2953512"/>
            <a:ext cx="9509760" cy="411480"/>
          </a:xfrm>
          <a:prstGeom prst="rect">
            <a:avLst/>
          </a:prstGeom>
          <a:noFill/>
          <a:ln/>
        </p:spPr>
        <p:txBody>
          <a:bodyPr wrap="square" rtlCol="0" anchor="ctr"/>
          <a:lstStyle/>
          <a:p>
            <a:pPr indent="0" marL="0">
              <a:buNone/>
            </a:pPr>
            <a:r>
              <a:rPr lang="en-US" sz="1550" b="1" dirty="0">
                <a:solidFill>
                  <a:srgbClr val="15171C"/>
                </a:solidFill>
                <a:latin typeface="Cambria" pitchFamily="34" charset="0"/>
                <a:ea typeface="Cambria" pitchFamily="34" charset="-122"/>
                <a:cs typeface="Cambria" pitchFamily="34" charset="-120"/>
              </a:rPr>
              <a:t>Design with tokens, not hardcoded values</a:t>
            </a:r>
            <a:endParaRPr lang="en-US" sz="1550" dirty="0"/>
          </a:p>
        </p:txBody>
      </p:sp>
      <p:sp>
        <p:nvSpPr>
          <p:cNvPr id="10" name="Text 7"/>
          <p:cNvSpPr/>
          <p:nvPr/>
        </p:nvSpPr>
        <p:spPr>
          <a:xfrm>
            <a:off x="1783080" y="3364992"/>
            <a:ext cx="9509760" cy="731520"/>
          </a:xfrm>
          <a:prstGeom prst="rect">
            <a:avLst/>
          </a:prstGeom>
          <a:noFill/>
          <a:ln/>
        </p:spPr>
        <p:txBody>
          <a:bodyPr wrap="square" rtlCol="0" anchor="t"/>
          <a:lstStyle/>
          <a:p>
            <a:pPr indent="0" marL="0">
              <a:buNone/>
            </a:pPr>
            <a:r>
              <a:rPr lang="en-US" sz="1250" dirty="0">
                <a:solidFill>
                  <a:srgbClr val="6C7078"/>
                </a:solidFill>
                <a:latin typeface="Calibri" pitchFamily="34" charset="0"/>
                <a:ea typeface="Calibri" pitchFamily="34" charset="-122"/>
                <a:cs typeface="Calibri" pitchFamily="34" charset="-120"/>
              </a:rPr>
              <a:t>CSS custom properties for color meant a whole theme (dark mode) could be added by overriding variables instead of rewriting every component.</a:t>
            </a:r>
            <a:endParaRPr lang="en-US" sz="1250" dirty="0"/>
          </a:p>
        </p:txBody>
      </p:sp>
      <p:sp>
        <p:nvSpPr>
          <p:cNvPr id="11" name="Shape 8"/>
          <p:cNvSpPr/>
          <p:nvPr/>
        </p:nvSpPr>
        <p:spPr>
          <a:xfrm>
            <a:off x="548640" y="4480560"/>
            <a:ext cx="11109960" cy="1417320"/>
          </a:xfrm>
          <a:prstGeom prst="roundRect">
            <a:avLst>
              <a:gd name="adj" fmla="val 6452"/>
            </a:avLst>
          </a:prstGeom>
          <a:solidFill>
            <a:srgbClr val="F7F7F9"/>
          </a:solidFill>
          <a:ln/>
        </p:spPr>
      </p:sp>
      <p:sp>
        <p:nvSpPr>
          <p:cNvPr id="12" name="Text 9"/>
          <p:cNvSpPr/>
          <p:nvPr/>
        </p:nvSpPr>
        <p:spPr>
          <a:xfrm>
            <a:off x="777240" y="4617720"/>
            <a:ext cx="914400" cy="1097280"/>
          </a:xfrm>
          <a:prstGeom prst="rect">
            <a:avLst/>
          </a:prstGeom>
          <a:noFill/>
          <a:ln/>
        </p:spPr>
        <p:txBody>
          <a:bodyPr wrap="square" rtlCol="0" anchor="ctr"/>
          <a:lstStyle/>
          <a:p>
            <a:pPr indent="0" marL="0">
              <a:buNone/>
            </a:pPr>
            <a:r>
              <a:rPr lang="en-US" sz="3400" b="1" dirty="0">
                <a:solidFill>
                  <a:srgbClr val="D8DCE6"/>
                </a:solidFill>
                <a:latin typeface="Cambria" pitchFamily="34" charset="0"/>
                <a:ea typeface="Cambria" pitchFamily="34" charset="-122"/>
                <a:cs typeface="Cambria" pitchFamily="34" charset="-120"/>
              </a:rPr>
              <a:t>02</a:t>
            </a:r>
            <a:endParaRPr lang="en-US" sz="3400" dirty="0"/>
          </a:p>
        </p:txBody>
      </p:sp>
      <p:sp>
        <p:nvSpPr>
          <p:cNvPr id="13" name="Text 10"/>
          <p:cNvSpPr/>
          <p:nvPr/>
        </p:nvSpPr>
        <p:spPr>
          <a:xfrm>
            <a:off x="1783080" y="4645152"/>
            <a:ext cx="9509760" cy="411480"/>
          </a:xfrm>
          <a:prstGeom prst="rect">
            <a:avLst/>
          </a:prstGeom>
          <a:noFill/>
          <a:ln/>
        </p:spPr>
        <p:txBody>
          <a:bodyPr wrap="square" rtlCol="0" anchor="ctr"/>
          <a:lstStyle/>
          <a:p>
            <a:pPr indent="0" marL="0">
              <a:buNone/>
            </a:pPr>
            <a:r>
              <a:rPr lang="en-US" sz="1550" b="1" dirty="0">
                <a:solidFill>
                  <a:srgbClr val="15171C"/>
                </a:solidFill>
                <a:latin typeface="Cambria" pitchFamily="34" charset="0"/>
                <a:ea typeface="Cambria" pitchFamily="34" charset="-122"/>
                <a:cs typeface="Cambria" pitchFamily="34" charset="-120"/>
              </a:rPr>
              <a:t>Test the states you didn't build for</a:t>
            </a:r>
            <a:endParaRPr lang="en-US" sz="1550" dirty="0"/>
          </a:p>
        </p:txBody>
      </p:sp>
      <p:sp>
        <p:nvSpPr>
          <p:cNvPr id="14" name="Text 11"/>
          <p:cNvSpPr/>
          <p:nvPr/>
        </p:nvSpPr>
        <p:spPr>
          <a:xfrm>
            <a:off x="1783080" y="5056632"/>
            <a:ext cx="9509760" cy="731520"/>
          </a:xfrm>
          <a:prstGeom prst="rect">
            <a:avLst/>
          </a:prstGeom>
          <a:noFill/>
          <a:ln/>
        </p:spPr>
        <p:txBody>
          <a:bodyPr wrap="square" rtlCol="0" anchor="t"/>
          <a:lstStyle/>
          <a:p>
            <a:pPr indent="0" marL="0">
              <a:buNone/>
            </a:pPr>
            <a:r>
              <a:rPr lang="en-US" sz="1250" dirty="0">
                <a:solidFill>
                  <a:srgbClr val="6C7078"/>
                </a:solidFill>
                <a:latin typeface="Calibri" pitchFamily="34" charset="0"/>
                <a:ea typeface="Calibri" pitchFamily="34" charset="-122"/>
                <a:cs typeface="Calibri" pitchFamily="34" charset="-120"/>
              </a:rPr>
              <a:t>Contrast issues, invisible buttons, and broken assumptions only surfaced when actually switching themes and clicking every control — not just reading the code.</a:t>
            </a:r>
            <a:endParaRPr lang="en-US" sz="1250" dirty="0"/>
          </a:p>
        </p:txBody>
      </p:sp>
      <p:sp>
        <p:nvSpPr>
          <p:cNvPr id="15" name="Text 12"/>
          <p:cNvSpPr/>
          <p:nvPr/>
        </p:nvSpPr>
        <p:spPr>
          <a:xfrm>
            <a:off x="457200" y="6510528"/>
            <a:ext cx="7315200" cy="274320"/>
          </a:xfrm>
          <a:prstGeom prst="rect">
            <a:avLst/>
          </a:prstGeom>
          <a:noFill/>
          <a:ln/>
        </p:spPr>
        <p:txBody>
          <a:bodyPr wrap="square" rtlCol="0" anchor="ctr"/>
          <a:lstStyle/>
          <a:p>
            <a:pPr indent="0" marL="0">
              <a:buNone/>
            </a:pPr>
            <a:r>
              <a:rPr lang="en-US" sz="900" i="1" dirty="0">
                <a:solidFill>
                  <a:srgbClr val="6C7078"/>
                </a:solidFill>
                <a:latin typeface="Calibri" pitchFamily="34" charset="0"/>
                <a:ea typeface="Calibri" pitchFamily="34" charset="-122"/>
                <a:cs typeface="Calibri" pitchFamily="34" charset="-120"/>
              </a:rPr>
              <a:t>MERIDIAN  ·  CODIORA HOUSE WEEK 8 FINAL PROJECT</a:t>
            </a:r>
            <a:endParaRPr lang="en-US" sz="900" dirty="0"/>
          </a:p>
        </p:txBody>
      </p:sp>
      <p:sp>
        <p:nvSpPr>
          <p:cNvPr id="16" name="Text 13"/>
          <p:cNvSpPr/>
          <p:nvPr/>
        </p:nvSpPr>
        <p:spPr>
          <a:xfrm>
            <a:off x="10332720" y="6510528"/>
            <a:ext cx="1371600" cy="274320"/>
          </a:xfrm>
          <a:prstGeom prst="rect">
            <a:avLst/>
          </a:prstGeom>
          <a:noFill/>
          <a:ln/>
        </p:spPr>
        <p:txBody>
          <a:bodyPr wrap="square" rtlCol="0" anchor="ctr"/>
          <a:lstStyle/>
          <a:p>
            <a:pPr algn="r" indent="0" marL="0">
              <a:buNone/>
            </a:pPr>
            <a:r>
              <a:rPr lang="en-US" sz="900" dirty="0">
                <a:solidFill>
                  <a:srgbClr val="6C707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300" b="1" spc="200" kern="0" dirty="0">
                <a:solidFill>
                  <a:srgbClr val="F0653E"/>
                </a:solidFill>
                <a:latin typeface="Calibri" pitchFamily="34" charset="0"/>
                <a:ea typeface="Calibri" pitchFamily="34" charset="-122"/>
                <a:cs typeface="Calibri" pitchFamily="34" charset="-120"/>
              </a:rPr>
              <a:t>08 · WHAT'S NEXT</a:t>
            </a:r>
            <a:endParaRPr lang="en-US" sz="1300" dirty="0"/>
          </a:p>
        </p:txBody>
      </p:sp>
      <p:sp>
        <p:nvSpPr>
          <p:cNvPr id="3" name="Text 1"/>
          <p:cNvSpPr/>
          <p:nvPr/>
        </p:nvSpPr>
        <p:spPr>
          <a:xfrm>
            <a:off x="548640" y="749808"/>
            <a:ext cx="10607040" cy="731520"/>
          </a:xfrm>
          <a:prstGeom prst="rect">
            <a:avLst/>
          </a:prstGeom>
          <a:noFill/>
          <a:ln/>
        </p:spPr>
        <p:txBody>
          <a:bodyPr wrap="square" rtlCol="0" anchor="ctr"/>
          <a:lstStyle/>
          <a:p>
            <a:pPr indent="0" marL="0">
              <a:buNone/>
            </a:pPr>
            <a:r>
              <a:rPr lang="en-US" sz="3200" b="1" dirty="0">
                <a:solidFill>
                  <a:srgbClr val="15171C"/>
                </a:solidFill>
                <a:latin typeface="Cambria" pitchFamily="34" charset="0"/>
                <a:ea typeface="Cambria" pitchFamily="34" charset="-122"/>
                <a:cs typeface="Cambria" pitchFamily="34" charset="-120"/>
              </a:rPr>
              <a:t>Future improvements</a:t>
            </a:r>
            <a:endParaRPr lang="en-US" sz="3200" dirty="0"/>
          </a:p>
        </p:txBody>
      </p:sp>
      <p:sp>
        <p:nvSpPr>
          <p:cNvPr id="4" name="Shape 2"/>
          <p:cNvSpPr/>
          <p:nvPr/>
        </p:nvSpPr>
        <p:spPr>
          <a:xfrm>
            <a:off x="548640" y="1920240"/>
            <a:ext cx="3520440" cy="3291840"/>
          </a:xfrm>
          <a:prstGeom prst="roundRect">
            <a:avLst>
              <a:gd name="adj" fmla="val 2778"/>
            </a:avLst>
          </a:prstGeom>
          <a:solidFill>
            <a:srgbClr val="F7F7F9"/>
          </a:solidFill>
          <a:ln/>
        </p:spPr>
      </p:sp>
      <p:sp>
        <p:nvSpPr>
          <p:cNvPr id="5" name="Shape 3"/>
          <p:cNvSpPr/>
          <p:nvPr/>
        </p:nvSpPr>
        <p:spPr>
          <a:xfrm>
            <a:off x="1965960" y="2194560"/>
            <a:ext cx="685800" cy="685800"/>
          </a:xfrm>
          <a:prstGeom prst="ellipse">
            <a:avLst/>
          </a:prstGeom>
          <a:solidFill>
            <a:srgbClr val="17233B"/>
          </a:solidFill>
          <a:ln/>
        </p:spPr>
      </p:sp>
      <p:pic>
        <p:nvPicPr>
          <p:cNvPr id="6" name="Image 0" descr="/home/claude/icons/route.png">    </p:cNvPr>
          <p:cNvPicPr>
            <a:picLocks noChangeAspect="1"/>
          </p:cNvPicPr>
          <p:nvPr/>
        </p:nvPicPr>
        <p:blipFill>
          <a:blip r:embed="rId1"/>
          <a:stretch>
            <a:fillRect/>
          </a:stretch>
        </p:blipFill>
        <p:spPr>
          <a:xfrm>
            <a:off x="2120265" y="2348865"/>
            <a:ext cx="377190" cy="377190"/>
          </a:xfrm>
          <a:prstGeom prst="rect">
            <a:avLst/>
          </a:prstGeom>
        </p:spPr>
      </p:pic>
      <p:sp>
        <p:nvSpPr>
          <p:cNvPr id="7" name="Text 4"/>
          <p:cNvSpPr/>
          <p:nvPr/>
        </p:nvSpPr>
        <p:spPr>
          <a:xfrm>
            <a:off x="822960" y="3063240"/>
            <a:ext cx="2971800" cy="685800"/>
          </a:xfrm>
          <a:prstGeom prst="rect">
            <a:avLst/>
          </a:prstGeom>
          <a:noFill/>
          <a:ln/>
        </p:spPr>
        <p:txBody>
          <a:bodyPr wrap="square" rtlCol="0" anchor="t"/>
          <a:lstStyle/>
          <a:p>
            <a:pPr algn="ctr" indent="0" marL="0">
              <a:buNone/>
            </a:pPr>
            <a:r>
              <a:rPr lang="en-US" sz="1550" b="1" dirty="0">
                <a:solidFill>
                  <a:srgbClr val="15171C"/>
                </a:solidFill>
                <a:latin typeface="Cambria" pitchFamily="34" charset="0"/>
                <a:ea typeface="Cambria" pitchFamily="34" charset="-122"/>
                <a:cs typeface="Cambria" pitchFamily="34" charset="-120"/>
              </a:rPr>
              <a:t>Interactive map view</a:t>
            </a:r>
            <a:endParaRPr lang="en-US" sz="1550" dirty="0"/>
          </a:p>
        </p:txBody>
      </p:sp>
      <p:sp>
        <p:nvSpPr>
          <p:cNvPr id="8" name="Text 5"/>
          <p:cNvSpPr/>
          <p:nvPr/>
        </p:nvSpPr>
        <p:spPr>
          <a:xfrm>
            <a:off x="822960" y="3794760"/>
            <a:ext cx="2971800" cy="1280160"/>
          </a:xfrm>
          <a:prstGeom prst="rect">
            <a:avLst/>
          </a:prstGeom>
          <a:noFill/>
          <a:ln/>
        </p:spPr>
        <p:txBody>
          <a:bodyPr wrap="square" rtlCol="0" anchor="t"/>
          <a:lstStyle/>
          <a:p>
            <a:pPr algn="ctr" indent="0" marL="0">
              <a:buNone/>
            </a:pPr>
            <a:r>
              <a:rPr lang="en-US" sz="1250" dirty="0">
                <a:solidFill>
                  <a:srgbClr val="6C7078"/>
                </a:solidFill>
                <a:latin typeface="Calibri" pitchFamily="34" charset="0"/>
                <a:ea typeface="Calibri" pitchFamily="34" charset="-122"/>
                <a:cs typeface="Calibri" pitchFamily="34" charset="-120"/>
              </a:rPr>
              <a:t>Show destinations on a real map instead of only a card grid.</a:t>
            </a:r>
            <a:endParaRPr lang="en-US" sz="1250" dirty="0"/>
          </a:p>
        </p:txBody>
      </p:sp>
      <p:sp>
        <p:nvSpPr>
          <p:cNvPr id="9" name="Shape 6"/>
          <p:cNvSpPr/>
          <p:nvPr/>
        </p:nvSpPr>
        <p:spPr>
          <a:xfrm>
            <a:off x="4251960" y="1920240"/>
            <a:ext cx="3520440" cy="3291840"/>
          </a:xfrm>
          <a:prstGeom prst="roundRect">
            <a:avLst>
              <a:gd name="adj" fmla="val 2778"/>
            </a:avLst>
          </a:prstGeom>
          <a:solidFill>
            <a:srgbClr val="F7F7F9"/>
          </a:solidFill>
          <a:ln/>
        </p:spPr>
      </p:sp>
      <p:sp>
        <p:nvSpPr>
          <p:cNvPr id="10" name="Shape 7"/>
          <p:cNvSpPr/>
          <p:nvPr/>
        </p:nvSpPr>
        <p:spPr>
          <a:xfrm>
            <a:off x="5669280" y="2194560"/>
            <a:ext cx="685800" cy="685800"/>
          </a:xfrm>
          <a:prstGeom prst="ellipse">
            <a:avLst/>
          </a:prstGeom>
          <a:solidFill>
            <a:srgbClr val="17233B"/>
          </a:solidFill>
          <a:ln/>
        </p:spPr>
      </p:sp>
      <p:pic>
        <p:nvPicPr>
          <p:cNvPr id="11" name="Image 1" descr="/home/claude/icons/robot.png">    </p:cNvPr>
          <p:cNvPicPr>
            <a:picLocks noChangeAspect="1"/>
          </p:cNvPicPr>
          <p:nvPr/>
        </p:nvPicPr>
        <p:blipFill>
          <a:blip r:embed="rId2"/>
          <a:stretch>
            <a:fillRect/>
          </a:stretch>
        </p:blipFill>
        <p:spPr>
          <a:xfrm>
            <a:off x="5823585" y="2348865"/>
            <a:ext cx="377190" cy="377190"/>
          </a:xfrm>
          <a:prstGeom prst="rect">
            <a:avLst/>
          </a:prstGeom>
        </p:spPr>
      </p:pic>
      <p:sp>
        <p:nvSpPr>
          <p:cNvPr id="12" name="Text 8"/>
          <p:cNvSpPr/>
          <p:nvPr/>
        </p:nvSpPr>
        <p:spPr>
          <a:xfrm>
            <a:off x="4526280" y="3063240"/>
            <a:ext cx="2971800" cy="685800"/>
          </a:xfrm>
          <a:prstGeom prst="rect">
            <a:avLst/>
          </a:prstGeom>
          <a:noFill/>
          <a:ln/>
        </p:spPr>
        <p:txBody>
          <a:bodyPr wrap="square" rtlCol="0" anchor="t"/>
          <a:lstStyle/>
          <a:p>
            <a:pPr algn="ctr" indent="0" marL="0">
              <a:buNone/>
            </a:pPr>
            <a:r>
              <a:rPr lang="en-US" sz="1550" b="1" dirty="0">
                <a:solidFill>
                  <a:srgbClr val="15171C"/>
                </a:solidFill>
                <a:latin typeface="Cambria" pitchFamily="34" charset="0"/>
                <a:ea typeface="Cambria" pitchFamily="34" charset="-122"/>
                <a:cs typeface="Cambria" pitchFamily="34" charset="-120"/>
              </a:rPr>
              <a:t>Smarter recommendations</a:t>
            </a:r>
            <a:endParaRPr lang="en-US" sz="1550" dirty="0"/>
          </a:p>
        </p:txBody>
      </p:sp>
      <p:sp>
        <p:nvSpPr>
          <p:cNvPr id="13" name="Text 9"/>
          <p:cNvSpPr/>
          <p:nvPr/>
        </p:nvSpPr>
        <p:spPr>
          <a:xfrm>
            <a:off x="4526280" y="3794760"/>
            <a:ext cx="2971800" cy="1280160"/>
          </a:xfrm>
          <a:prstGeom prst="rect">
            <a:avLst/>
          </a:prstGeom>
          <a:noFill/>
          <a:ln/>
        </p:spPr>
        <p:txBody>
          <a:bodyPr wrap="square" rtlCol="0" anchor="t"/>
          <a:lstStyle/>
          <a:p>
            <a:pPr algn="ctr" indent="0" marL="0">
              <a:buNone/>
            </a:pPr>
            <a:r>
              <a:rPr lang="en-US" sz="1250" dirty="0">
                <a:solidFill>
                  <a:srgbClr val="6C7078"/>
                </a:solidFill>
                <a:latin typeface="Calibri" pitchFamily="34" charset="0"/>
                <a:ea typeface="Calibri" pitchFamily="34" charset="-122"/>
                <a:cs typeface="Calibri" pitchFamily="34" charset="-120"/>
              </a:rPr>
              <a:t>Base suggestions on booking history, not just form inputs.</a:t>
            </a:r>
            <a:endParaRPr lang="en-US" sz="1250" dirty="0"/>
          </a:p>
        </p:txBody>
      </p:sp>
      <p:sp>
        <p:nvSpPr>
          <p:cNvPr id="14" name="Shape 10"/>
          <p:cNvSpPr/>
          <p:nvPr/>
        </p:nvSpPr>
        <p:spPr>
          <a:xfrm>
            <a:off x="7955280" y="1920240"/>
            <a:ext cx="3520440" cy="3291840"/>
          </a:xfrm>
          <a:prstGeom prst="roundRect">
            <a:avLst>
              <a:gd name="adj" fmla="val 2778"/>
            </a:avLst>
          </a:prstGeom>
          <a:solidFill>
            <a:srgbClr val="F7F7F9"/>
          </a:solidFill>
          <a:ln/>
        </p:spPr>
      </p:sp>
      <p:sp>
        <p:nvSpPr>
          <p:cNvPr id="15" name="Shape 11"/>
          <p:cNvSpPr/>
          <p:nvPr/>
        </p:nvSpPr>
        <p:spPr>
          <a:xfrm>
            <a:off x="9372600" y="2194560"/>
            <a:ext cx="685800" cy="685800"/>
          </a:xfrm>
          <a:prstGeom prst="ellipse">
            <a:avLst/>
          </a:prstGeom>
          <a:solidFill>
            <a:srgbClr val="17233B"/>
          </a:solidFill>
          <a:ln/>
        </p:spPr>
      </p:sp>
      <p:pic>
        <p:nvPicPr>
          <p:cNvPr id="16" name="Image 2" descr="/home/claude/icons/database.png">    </p:cNvPr>
          <p:cNvPicPr>
            <a:picLocks noChangeAspect="1"/>
          </p:cNvPicPr>
          <p:nvPr/>
        </p:nvPicPr>
        <p:blipFill>
          <a:blip r:embed="rId3"/>
          <a:stretch>
            <a:fillRect/>
          </a:stretch>
        </p:blipFill>
        <p:spPr>
          <a:xfrm>
            <a:off x="9526905" y="2348865"/>
            <a:ext cx="377190" cy="377190"/>
          </a:xfrm>
          <a:prstGeom prst="rect">
            <a:avLst/>
          </a:prstGeom>
        </p:spPr>
      </p:pic>
      <p:sp>
        <p:nvSpPr>
          <p:cNvPr id="17" name="Text 12"/>
          <p:cNvSpPr/>
          <p:nvPr/>
        </p:nvSpPr>
        <p:spPr>
          <a:xfrm>
            <a:off x="8229600" y="3063240"/>
            <a:ext cx="2971800" cy="685800"/>
          </a:xfrm>
          <a:prstGeom prst="rect">
            <a:avLst/>
          </a:prstGeom>
          <a:noFill/>
          <a:ln/>
        </p:spPr>
        <p:txBody>
          <a:bodyPr wrap="square" rtlCol="0" anchor="t"/>
          <a:lstStyle/>
          <a:p>
            <a:pPr algn="ctr" indent="0" marL="0">
              <a:buNone/>
            </a:pPr>
            <a:r>
              <a:rPr lang="en-US" sz="1550" b="1" dirty="0">
                <a:solidFill>
                  <a:srgbClr val="15171C"/>
                </a:solidFill>
                <a:latin typeface="Cambria" pitchFamily="34" charset="0"/>
                <a:ea typeface="Cambria" pitchFamily="34" charset="-122"/>
                <a:cs typeface="Cambria" pitchFamily="34" charset="-120"/>
              </a:rPr>
              <a:t>A real backend</a:t>
            </a:r>
            <a:endParaRPr lang="en-US" sz="1550" dirty="0"/>
          </a:p>
        </p:txBody>
      </p:sp>
      <p:sp>
        <p:nvSpPr>
          <p:cNvPr id="18" name="Text 13"/>
          <p:cNvSpPr/>
          <p:nvPr/>
        </p:nvSpPr>
        <p:spPr>
          <a:xfrm>
            <a:off x="8229600" y="3794760"/>
            <a:ext cx="2971800" cy="1280160"/>
          </a:xfrm>
          <a:prstGeom prst="rect">
            <a:avLst/>
          </a:prstGeom>
          <a:noFill/>
          <a:ln/>
        </p:spPr>
        <p:txBody>
          <a:bodyPr wrap="square" rtlCol="0" anchor="t"/>
          <a:lstStyle/>
          <a:p>
            <a:pPr algn="ctr" indent="0" marL="0">
              <a:buNone/>
            </a:pPr>
            <a:r>
              <a:rPr lang="en-US" sz="1250" dirty="0">
                <a:solidFill>
                  <a:srgbClr val="6C7078"/>
                </a:solidFill>
                <a:latin typeface="Calibri" pitchFamily="34" charset="0"/>
                <a:ea typeface="Calibri" pitchFamily="34" charset="-122"/>
                <a:cs typeface="Calibri" pitchFamily="34" charset="-120"/>
              </a:rPr>
              <a:t>Move destinations and services from an inline array to a small API.</a:t>
            </a:r>
            <a:endParaRPr lang="en-US" sz="1250" dirty="0"/>
          </a:p>
        </p:txBody>
      </p:sp>
      <p:sp>
        <p:nvSpPr>
          <p:cNvPr id="19" name="Text 14"/>
          <p:cNvSpPr/>
          <p:nvPr/>
        </p:nvSpPr>
        <p:spPr>
          <a:xfrm>
            <a:off x="457200" y="6510528"/>
            <a:ext cx="7315200" cy="274320"/>
          </a:xfrm>
          <a:prstGeom prst="rect">
            <a:avLst/>
          </a:prstGeom>
          <a:noFill/>
          <a:ln/>
        </p:spPr>
        <p:txBody>
          <a:bodyPr wrap="square" rtlCol="0" anchor="ctr"/>
          <a:lstStyle/>
          <a:p>
            <a:pPr indent="0" marL="0">
              <a:buNone/>
            </a:pPr>
            <a:r>
              <a:rPr lang="en-US" sz="900" i="1" dirty="0">
                <a:solidFill>
                  <a:srgbClr val="6C7078"/>
                </a:solidFill>
                <a:latin typeface="Calibri" pitchFamily="34" charset="0"/>
                <a:ea typeface="Calibri" pitchFamily="34" charset="-122"/>
                <a:cs typeface="Calibri" pitchFamily="34" charset="-120"/>
              </a:rPr>
              <a:t>MERIDIAN  ·  CODIORA HOUSE WEEK 8 FINAL PROJECT</a:t>
            </a:r>
            <a:endParaRPr lang="en-US" sz="900" dirty="0"/>
          </a:p>
        </p:txBody>
      </p:sp>
      <p:sp>
        <p:nvSpPr>
          <p:cNvPr id="20" name="Text 15"/>
          <p:cNvSpPr/>
          <p:nvPr/>
        </p:nvSpPr>
        <p:spPr>
          <a:xfrm>
            <a:off x="10332720" y="6510528"/>
            <a:ext cx="1371600" cy="274320"/>
          </a:xfrm>
          <a:prstGeom prst="rect">
            <a:avLst/>
          </a:prstGeom>
          <a:noFill/>
          <a:ln/>
        </p:spPr>
        <p:txBody>
          <a:bodyPr wrap="square" rtlCol="0" anchor="ctr"/>
          <a:lstStyle/>
          <a:p>
            <a:pPr algn="r" indent="0" marL="0">
              <a:buNone/>
            </a:pPr>
            <a:r>
              <a:rPr lang="en-US" sz="900" dirty="0">
                <a:solidFill>
                  <a:srgbClr val="6C707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7233B"/>
        </a:solidFill>
      </p:bgPr>
    </p:bg>
    <p:spTree>
      <p:nvGrpSpPr>
        <p:cNvPr id="1" name=""/>
        <p:cNvGrpSpPr/>
        <p:nvPr/>
      </p:nvGrpSpPr>
      <p:grpSpPr>
        <a:xfrm>
          <a:off x="0" y="0"/>
          <a:ext cx="0" cy="0"/>
          <a:chOff x="0" y="0"/>
          <a:chExt cx="0" cy="0"/>
        </a:xfrm>
      </p:grpSpPr>
      <p:sp>
        <p:nvSpPr>
          <p:cNvPr id="2" name="Shape 0"/>
          <p:cNvSpPr/>
          <p:nvPr/>
        </p:nvSpPr>
        <p:spPr>
          <a:xfrm>
            <a:off x="10241280" y="-1463040"/>
            <a:ext cx="3840480" cy="3840480"/>
          </a:xfrm>
          <a:prstGeom prst="ellipse">
            <a:avLst/>
          </a:prstGeom>
          <a:solidFill>
            <a:srgbClr val="2E3F63">
              <a:alpha val="60000"/>
            </a:srgbClr>
          </a:solidFill>
          <a:ln/>
        </p:spPr>
      </p:sp>
      <p:sp>
        <p:nvSpPr>
          <p:cNvPr id="3" name="Shape 1"/>
          <p:cNvSpPr/>
          <p:nvPr/>
        </p:nvSpPr>
        <p:spPr>
          <a:xfrm>
            <a:off x="-1280160" y="5120640"/>
            <a:ext cx="3108960" cy="3108960"/>
          </a:xfrm>
          <a:prstGeom prst="ellipse">
            <a:avLst/>
          </a:prstGeom>
          <a:solidFill>
            <a:srgbClr val="2E3F63">
              <a:alpha val="60000"/>
            </a:srgbClr>
          </a:solidFill>
          <a:ln/>
        </p:spPr>
      </p:sp>
      <p:sp>
        <p:nvSpPr>
          <p:cNvPr id="4" name="Shape 2"/>
          <p:cNvSpPr/>
          <p:nvPr/>
        </p:nvSpPr>
        <p:spPr>
          <a:xfrm>
            <a:off x="5166360" y="1005840"/>
            <a:ext cx="1280160" cy="1280160"/>
          </a:xfrm>
          <a:prstGeom prst="ellipse">
            <a:avLst/>
          </a:prstGeom>
          <a:solidFill>
            <a:srgbClr val="2E3F63"/>
          </a:solidFill>
          <a:ln/>
        </p:spPr>
      </p:sp>
      <p:pic>
        <p:nvPicPr>
          <p:cNvPr id="5" name="Image 0" descr="/home/claude/icons/compass.png">    </p:cNvPr>
          <p:cNvPicPr>
            <a:picLocks noChangeAspect="1"/>
          </p:cNvPicPr>
          <p:nvPr/>
        </p:nvPicPr>
        <p:blipFill>
          <a:blip r:embed="rId1"/>
          <a:stretch>
            <a:fillRect/>
          </a:stretch>
        </p:blipFill>
        <p:spPr>
          <a:xfrm>
            <a:off x="5422392" y="1261872"/>
            <a:ext cx="768096" cy="768096"/>
          </a:xfrm>
          <a:prstGeom prst="rect">
            <a:avLst/>
          </a:prstGeom>
        </p:spPr>
      </p:pic>
      <p:sp>
        <p:nvSpPr>
          <p:cNvPr id="6" name="Text 3"/>
          <p:cNvSpPr/>
          <p:nvPr/>
        </p:nvSpPr>
        <p:spPr>
          <a:xfrm>
            <a:off x="822960" y="2651760"/>
            <a:ext cx="10515600" cy="914400"/>
          </a:xfrm>
          <a:prstGeom prst="rect">
            <a:avLst/>
          </a:prstGeom>
          <a:noFill/>
          <a:ln/>
        </p:spPr>
        <p:txBody>
          <a:bodyPr wrap="square"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7" name="Text 4"/>
          <p:cNvSpPr/>
          <p:nvPr/>
        </p:nvSpPr>
        <p:spPr>
          <a:xfrm>
            <a:off x="822960" y="3520440"/>
            <a:ext cx="10515600" cy="457200"/>
          </a:xfrm>
          <a:prstGeom prst="rect">
            <a:avLst/>
          </a:prstGeom>
          <a:noFill/>
          <a:ln/>
        </p:spPr>
        <p:txBody>
          <a:bodyPr wrap="square" rtlCol="0" anchor="ctr"/>
          <a:lstStyle/>
          <a:p>
            <a:pPr algn="ctr" indent="0" marL="0">
              <a:buNone/>
            </a:pPr>
            <a:r>
              <a:rPr lang="en-US" sz="1700" i="1" dirty="0">
                <a:solidFill>
                  <a:srgbClr val="CADCFC"/>
                </a:solidFill>
                <a:latin typeface="Calibri" pitchFamily="34" charset="0"/>
                <a:ea typeface="Calibri" pitchFamily="34" charset="-122"/>
                <a:cs typeface="Calibri" pitchFamily="34" charset="-120"/>
              </a:rPr>
              <a:t>Questions &amp; feedback welcome.</a:t>
            </a:r>
            <a:endParaRPr lang="en-US" sz="1700" dirty="0"/>
          </a:p>
        </p:txBody>
      </p:sp>
      <p:sp>
        <p:nvSpPr>
          <p:cNvPr id="8" name="Shape 5"/>
          <p:cNvSpPr/>
          <p:nvPr/>
        </p:nvSpPr>
        <p:spPr>
          <a:xfrm>
            <a:off x="5074920" y="4160520"/>
            <a:ext cx="2011680" cy="0"/>
          </a:xfrm>
          <a:prstGeom prst="line">
            <a:avLst/>
          </a:prstGeom>
          <a:noFill/>
          <a:ln w="31750">
            <a:solidFill>
              <a:srgbClr val="F0653E"/>
            </a:solidFill>
            <a:prstDash val="solid"/>
          </a:ln>
        </p:spPr>
      </p:sp>
      <p:sp>
        <p:nvSpPr>
          <p:cNvPr id="9" name="Text 6"/>
          <p:cNvSpPr/>
          <p:nvPr/>
        </p:nvSpPr>
        <p:spPr>
          <a:xfrm>
            <a:off x="822960" y="4434840"/>
            <a:ext cx="10515600" cy="365760"/>
          </a:xfrm>
          <a:prstGeom prst="rect">
            <a:avLst/>
          </a:prstGeom>
          <a:noFill/>
          <a:ln/>
        </p:spPr>
        <p:txBody>
          <a:bodyPr wrap="square" rtlCol="0" anchor="ctr"/>
          <a:lstStyle/>
          <a:p>
            <a:pPr algn="ctr" indent="0" marL="0">
              <a:buNone/>
            </a:pPr>
            <a:r>
              <a:rPr lang="en-US" sz="1300" dirty="0">
                <a:solidFill>
                  <a:srgbClr val="9FB0D0"/>
                </a:solidFill>
                <a:latin typeface="Calibri" pitchFamily="34" charset="0"/>
                <a:ea typeface="Calibri" pitchFamily="34" charset="-122"/>
                <a:cs typeface="Calibri" pitchFamily="34" charset="-120"/>
              </a:rPr>
              <a:t>Iqra Noor  ·  CODIORA House (Private) Limited  ·  Batch 3, Week 8</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2026-09-12T22:38:06Z</dcterms:created>
  <dcterms:modified xsi:type="dcterms:W3CDTF">2026-09-12T22:38:06Z</dcterms:modified>
</cp:coreProperties>
</file>